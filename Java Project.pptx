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2EF2D-9BBA-426C-9613-FDB57631371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23605-B9CB-4BCA-BA1C-F22812B75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4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3605-B9CB-4BCA-BA1C-F22812B75E1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3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Relationship Id="rId9" Type="http://schemas.openxmlformats.org/officeDocument/2006/relationships/image" Target="../media/image2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2047" y="2279605"/>
            <a:ext cx="5358130" cy="213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454B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454B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7818" y="1256049"/>
            <a:ext cx="595581" cy="4331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220677" y="4471589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246"/>
                </a:moveTo>
                <a:lnTo>
                  <a:pt x="0" y="0"/>
                </a:lnTo>
              </a:path>
            </a:pathLst>
          </a:custGeom>
          <a:ln w="9023">
            <a:solidFill>
              <a:srgbClr val="4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71875" y="4471589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246"/>
                </a:moveTo>
                <a:lnTo>
                  <a:pt x="0" y="0"/>
                </a:lnTo>
              </a:path>
            </a:pathLst>
          </a:custGeom>
          <a:ln w="9023">
            <a:solidFill>
              <a:srgbClr val="4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16165" y="4476101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>
                <a:moveTo>
                  <a:pt x="0" y="0"/>
                </a:moveTo>
                <a:lnTo>
                  <a:pt x="460222" y="0"/>
                </a:lnTo>
              </a:path>
            </a:pathLst>
          </a:custGeom>
          <a:ln w="9023">
            <a:solidFill>
              <a:srgbClr val="4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216165" y="4936324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>
                <a:moveTo>
                  <a:pt x="0" y="0"/>
                </a:moveTo>
                <a:lnTo>
                  <a:pt x="460222" y="0"/>
                </a:lnTo>
              </a:path>
            </a:pathLst>
          </a:custGeom>
          <a:ln w="9023">
            <a:solidFill>
              <a:srgbClr val="4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98558" y="2856299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246"/>
                </a:moveTo>
                <a:lnTo>
                  <a:pt x="0" y="0"/>
                </a:lnTo>
              </a:path>
            </a:pathLst>
          </a:custGeom>
          <a:ln w="9023">
            <a:solidFill>
              <a:srgbClr val="3B54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58780" y="2856299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246"/>
                </a:moveTo>
                <a:lnTo>
                  <a:pt x="0" y="0"/>
                </a:lnTo>
              </a:path>
            </a:pathLst>
          </a:custGeom>
          <a:ln w="9023">
            <a:solidFill>
              <a:srgbClr val="3B54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94046" y="286081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0" y="0"/>
                </a:moveTo>
                <a:lnTo>
                  <a:pt x="469246" y="0"/>
                </a:lnTo>
              </a:path>
            </a:pathLst>
          </a:custGeom>
          <a:ln w="9023">
            <a:solidFill>
              <a:srgbClr val="3B54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94046" y="332103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0" y="0"/>
                </a:moveTo>
                <a:lnTo>
                  <a:pt x="469246" y="0"/>
                </a:lnTo>
              </a:path>
            </a:pathLst>
          </a:custGeom>
          <a:ln w="9023">
            <a:solidFill>
              <a:srgbClr val="3B54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318" y="2907435"/>
            <a:ext cx="315838" cy="31583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318" y="2907435"/>
            <a:ext cx="315838" cy="31583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6078" y="4441509"/>
            <a:ext cx="487294" cy="48729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6078" y="4441509"/>
            <a:ext cx="487294" cy="48729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7137" y="2826219"/>
            <a:ext cx="487294" cy="48729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7137" y="2826219"/>
            <a:ext cx="487294" cy="48729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7137" y="4441509"/>
            <a:ext cx="487294" cy="48729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7137" y="4441509"/>
            <a:ext cx="487294" cy="48729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28197" y="2826219"/>
            <a:ext cx="478270" cy="48729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28197" y="2826219"/>
            <a:ext cx="478270" cy="48729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09412" y="4549797"/>
            <a:ext cx="315838" cy="2797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09412" y="4549797"/>
            <a:ext cx="315838" cy="2797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454B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454B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146" y="4471339"/>
            <a:ext cx="1584206" cy="10891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9425" y="4489341"/>
            <a:ext cx="198025" cy="10621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4501" y="4462338"/>
            <a:ext cx="2862374" cy="110714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1128" y="2194040"/>
            <a:ext cx="2070271" cy="108014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5948" y="2194040"/>
            <a:ext cx="3006393" cy="108014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9322" y="1284921"/>
            <a:ext cx="594077" cy="432056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5697745" y="3002647"/>
            <a:ext cx="651510" cy="0"/>
          </a:xfrm>
          <a:custGeom>
            <a:avLst/>
            <a:gdLst/>
            <a:ahLst/>
            <a:cxnLst/>
            <a:rect l="l" t="t" r="r" b="b"/>
            <a:pathLst>
              <a:path w="651510">
                <a:moveTo>
                  <a:pt x="0" y="0"/>
                </a:moveTo>
                <a:lnTo>
                  <a:pt x="651085" y="0"/>
                </a:lnTo>
              </a:path>
            </a:pathLst>
          </a:custGeom>
          <a:ln w="3175">
            <a:solidFill>
              <a:srgbClr val="776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041530" y="2858628"/>
            <a:ext cx="255270" cy="0"/>
          </a:xfrm>
          <a:custGeom>
            <a:avLst/>
            <a:gdLst/>
            <a:ahLst/>
            <a:cxnLst/>
            <a:rect l="l" t="t" r="r" b="b"/>
            <a:pathLst>
              <a:path w="255270">
                <a:moveTo>
                  <a:pt x="0" y="0"/>
                </a:moveTo>
                <a:lnTo>
                  <a:pt x="255033" y="0"/>
                </a:lnTo>
              </a:path>
            </a:pathLst>
          </a:custGeom>
          <a:ln w="3175">
            <a:solidFill>
              <a:srgbClr val="776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329567" y="2444573"/>
            <a:ext cx="354330" cy="0"/>
          </a:xfrm>
          <a:custGeom>
            <a:avLst/>
            <a:gdLst/>
            <a:ahLst/>
            <a:cxnLst/>
            <a:rect l="l" t="t" r="r" b="b"/>
            <a:pathLst>
              <a:path w="354329">
                <a:moveTo>
                  <a:pt x="0" y="0"/>
                </a:moveTo>
                <a:lnTo>
                  <a:pt x="354046" y="0"/>
                </a:lnTo>
              </a:path>
            </a:pathLst>
          </a:custGeom>
          <a:ln w="3175">
            <a:solidFill>
              <a:srgbClr val="776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761623" y="2444573"/>
            <a:ext cx="1596390" cy="0"/>
          </a:xfrm>
          <a:custGeom>
            <a:avLst/>
            <a:gdLst/>
            <a:ahLst/>
            <a:cxnLst/>
            <a:rect l="l" t="t" r="r" b="b"/>
            <a:pathLst>
              <a:path w="1596389">
                <a:moveTo>
                  <a:pt x="0" y="0"/>
                </a:moveTo>
                <a:lnTo>
                  <a:pt x="1596209" y="0"/>
                </a:lnTo>
              </a:path>
            </a:pathLst>
          </a:custGeom>
          <a:ln w="3175">
            <a:solidFill>
              <a:srgbClr val="776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25219" y="1014886"/>
            <a:ext cx="1215159" cy="45906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0058" y="1293922"/>
            <a:ext cx="7497982" cy="9901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115" y="1165521"/>
            <a:ext cx="8776335" cy="415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454B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0.jpg"/><Relationship Id="rId7" Type="http://schemas.openxmlformats.org/officeDocument/2006/relationships/image" Target="../media/image44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11" Type="http://schemas.openxmlformats.org/officeDocument/2006/relationships/image" Target="../media/image48.png"/><Relationship Id="rId5" Type="http://schemas.openxmlformats.org/officeDocument/2006/relationships/image" Target="../media/image42.jpg"/><Relationship Id="rId10" Type="http://schemas.openxmlformats.org/officeDocument/2006/relationships/image" Target="../media/image47.jpg"/><Relationship Id="rId4" Type="http://schemas.openxmlformats.org/officeDocument/2006/relationships/image" Target="../media/image41.jp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50.jp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5" Type="http://schemas.openxmlformats.org/officeDocument/2006/relationships/image" Target="../media/image52.jpg"/><Relationship Id="rId10" Type="http://schemas.openxmlformats.org/officeDocument/2006/relationships/image" Target="../media/image57.jpg"/><Relationship Id="rId4" Type="http://schemas.openxmlformats.org/officeDocument/2006/relationships/image" Target="../media/image51.jpg"/><Relationship Id="rId9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7" Type="http://schemas.openxmlformats.org/officeDocument/2006/relationships/image" Target="../media/image57.jp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5" Type="http://schemas.openxmlformats.org/officeDocument/2006/relationships/image" Target="../media/image50.jpg"/><Relationship Id="rId4" Type="http://schemas.openxmlformats.org/officeDocument/2006/relationships/image" Target="../media/image5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13" Type="http://schemas.openxmlformats.org/officeDocument/2006/relationships/image" Target="../media/image80.png"/><Relationship Id="rId3" Type="http://schemas.openxmlformats.org/officeDocument/2006/relationships/image" Target="../media/image70.jpg"/><Relationship Id="rId7" Type="http://schemas.openxmlformats.org/officeDocument/2006/relationships/image" Target="../media/image74.png"/><Relationship Id="rId12" Type="http://schemas.openxmlformats.org/officeDocument/2006/relationships/image" Target="../media/image79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jp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jpg"/><Relationship Id="rId9" Type="http://schemas.openxmlformats.org/officeDocument/2006/relationships/image" Target="../media/image76.png"/><Relationship Id="rId14" Type="http://schemas.openxmlformats.org/officeDocument/2006/relationships/image" Target="../media/image81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g"/><Relationship Id="rId13" Type="http://schemas.openxmlformats.org/officeDocument/2006/relationships/image" Target="../media/image94.png"/><Relationship Id="rId3" Type="http://schemas.openxmlformats.org/officeDocument/2006/relationships/image" Target="../media/image84.jpg"/><Relationship Id="rId7" Type="http://schemas.openxmlformats.org/officeDocument/2006/relationships/image" Target="../media/image88.png"/><Relationship Id="rId12" Type="http://schemas.openxmlformats.org/officeDocument/2006/relationships/image" Target="../media/image93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jpg"/><Relationship Id="rId11" Type="http://schemas.openxmlformats.org/officeDocument/2006/relationships/image" Target="../media/image92.png"/><Relationship Id="rId5" Type="http://schemas.openxmlformats.org/officeDocument/2006/relationships/image" Target="../media/image86.jpg"/><Relationship Id="rId10" Type="http://schemas.openxmlformats.org/officeDocument/2006/relationships/image" Target="../media/image91.jpg"/><Relationship Id="rId4" Type="http://schemas.openxmlformats.org/officeDocument/2006/relationships/image" Target="../media/image85.jpg"/><Relationship Id="rId9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29067"/>
            <a:ext cx="10693400" cy="70548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727700" y="273050"/>
            <a:ext cx="5358130" cy="267637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4290" marR="5080" indent="-635">
              <a:lnSpc>
                <a:spcPct val="113900"/>
              </a:lnSpc>
              <a:spcBef>
                <a:spcPts val="720"/>
              </a:spcBef>
            </a:pPr>
            <a:r>
              <a:rPr sz="1250" spc="-10" dirty="0">
                <a:solidFill>
                  <a:srgbClr val="5B5B5B"/>
                </a:solidFill>
              </a:rPr>
              <a:t>.</a:t>
            </a:r>
            <a:endParaRPr sz="12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1F728-9A62-551F-F711-1AF722F496B7}"/>
              </a:ext>
            </a:extLst>
          </p:cNvPr>
          <p:cNvSpPr/>
          <p:nvPr/>
        </p:nvSpPr>
        <p:spPr>
          <a:xfrm>
            <a:off x="0" y="1035050"/>
            <a:ext cx="42037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b="1" spc="-45" dirty="0">
                <a:solidFill>
                  <a:srgbClr val="2B52CF"/>
                </a:solidFill>
                <a:latin typeface="Book Antiqua" panose="02040602050305030304" pitchFamily="18" charset="0"/>
              </a:rPr>
              <a:t>Building</a:t>
            </a:r>
            <a:r>
              <a:rPr lang="en-US" sz="3200" b="1" spc="-330" dirty="0">
                <a:solidFill>
                  <a:srgbClr val="2B52CF"/>
                </a:solidFill>
                <a:latin typeface="Book Antiqua" panose="02040602050305030304" pitchFamily="18" charset="0"/>
              </a:rPr>
              <a:t> </a:t>
            </a:r>
            <a:r>
              <a:rPr lang="en-US" sz="3200" b="1" spc="160" dirty="0">
                <a:solidFill>
                  <a:srgbClr val="2152D3"/>
                </a:solidFill>
                <a:latin typeface="Book Antiqua" panose="02040602050305030304" pitchFamily="18" charset="0"/>
              </a:rPr>
              <a:t>a</a:t>
            </a:r>
            <a:r>
              <a:rPr lang="en-US" sz="3200" b="1" spc="-470" dirty="0">
                <a:solidFill>
                  <a:srgbClr val="2152D3"/>
                </a:solidFill>
                <a:latin typeface="Book Antiqua" panose="02040602050305030304" pitchFamily="18" charset="0"/>
              </a:rPr>
              <a:t> </a:t>
            </a:r>
            <a:r>
              <a:rPr lang="en-US" sz="3200" b="1" spc="-80" dirty="0">
                <a:solidFill>
                  <a:srgbClr val="1F4DC6"/>
                </a:solidFill>
                <a:latin typeface="Book Antiqua" panose="02040602050305030304" pitchFamily="18" charset="0"/>
              </a:rPr>
              <a:t>User-</a:t>
            </a:r>
            <a:r>
              <a:rPr lang="en-US" sz="3200" b="1" spc="-60" dirty="0">
                <a:solidFill>
                  <a:srgbClr val="1F4DC6"/>
                </a:solidFill>
                <a:latin typeface="Book Antiqua" panose="02040602050305030304" pitchFamily="18" charset="0"/>
              </a:rPr>
              <a:t>Centric </a:t>
            </a:r>
            <a:r>
              <a:rPr lang="en-US" sz="3200" b="1" spc="-120" dirty="0">
                <a:solidFill>
                  <a:srgbClr val="264BCF"/>
                </a:solidFill>
                <a:latin typeface="Book Antiqua" panose="02040602050305030304" pitchFamily="18" charset="0"/>
              </a:rPr>
              <a:t>Fundraising</a:t>
            </a:r>
            <a:r>
              <a:rPr lang="en-US" sz="3200" b="1" spc="-305" dirty="0">
                <a:solidFill>
                  <a:srgbClr val="264BCF"/>
                </a:solidFill>
                <a:latin typeface="Book Antiqua" panose="02040602050305030304" pitchFamily="18" charset="0"/>
              </a:rPr>
              <a:t> </a:t>
            </a:r>
            <a:r>
              <a:rPr lang="en-US" sz="3200" b="1" spc="-10" dirty="0">
                <a:solidFill>
                  <a:srgbClr val="2A4DDF"/>
                </a:solidFill>
                <a:latin typeface="Book Antiqua" panose="02040602050305030304" pitchFamily="18" charset="0"/>
              </a:rPr>
              <a:t>Platform: </a:t>
            </a:r>
            <a:r>
              <a:rPr lang="en-US" sz="3200" b="1" spc="-175" dirty="0">
                <a:solidFill>
                  <a:srgbClr val="2849D1"/>
                </a:solidFill>
                <a:latin typeface="Book Antiqua" panose="02040602050305030304" pitchFamily="18" charset="0"/>
              </a:rPr>
              <a:t>Developer</a:t>
            </a:r>
            <a:r>
              <a:rPr lang="en-US" sz="3200" b="1" spc="-50" dirty="0">
                <a:solidFill>
                  <a:srgbClr val="2849D1"/>
                </a:solidFill>
                <a:latin typeface="Book Antiqua" panose="02040602050305030304" pitchFamily="18" charset="0"/>
              </a:rPr>
              <a:t> </a:t>
            </a:r>
            <a:r>
              <a:rPr lang="en-US" sz="3200" b="1" spc="-10" dirty="0">
                <a:solidFill>
                  <a:srgbClr val="1C56CF"/>
                </a:solidFill>
                <a:latin typeface="Book Antiqua" panose="02040602050305030304" pitchFamily="18" charset="0"/>
              </a:rPr>
              <a:t>Overview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A8035-5528-C9D7-26E5-672314D0A97B}"/>
              </a:ext>
            </a:extLst>
          </p:cNvPr>
          <p:cNvSpPr/>
          <p:nvPr/>
        </p:nvSpPr>
        <p:spPr>
          <a:xfrm>
            <a:off x="114300" y="5274833"/>
            <a:ext cx="39751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-35" dirty="0">
                <a:solidFill>
                  <a:schemeClr val="tx1"/>
                </a:solidFill>
                <a:latin typeface="Calisto MT" panose="02040603050505030304" pitchFamily="18" charset="0"/>
              </a:rPr>
              <a:t>Guiding</a:t>
            </a:r>
            <a:r>
              <a:rPr lang="en-US" sz="2400" b="1" spc="-5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30" dirty="0">
                <a:solidFill>
                  <a:schemeClr val="tx1"/>
                </a:solidFill>
                <a:latin typeface="Calisto MT" panose="02040603050505030304" pitchFamily="18" charset="0"/>
              </a:rPr>
              <a:t>developers</a:t>
            </a:r>
            <a:r>
              <a:rPr lang="en-US" sz="2400" b="1" spc="6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to</a:t>
            </a:r>
            <a:r>
              <a:rPr lang="en-US" sz="2400" b="1" spc="-114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implement</a:t>
            </a:r>
            <a:r>
              <a:rPr lang="en-US" sz="2400" b="1" spc="1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role specific</a:t>
            </a:r>
            <a:r>
              <a:rPr lang="en-US" sz="2400" b="1" spc="3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features</a:t>
            </a:r>
            <a:r>
              <a:rPr lang="en-US" sz="2400" b="1" spc="1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for</a:t>
            </a:r>
            <a:r>
              <a:rPr lang="en-US" sz="2400" b="1" spc="-2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35" dirty="0">
                <a:solidFill>
                  <a:schemeClr val="tx1"/>
                </a:solidFill>
                <a:latin typeface="Calisto MT" panose="02040603050505030304" pitchFamily="18" charset="0"/>
              </a:rPr>
              <a:t>Admins,</a:t>
            </a:r>
            <a:r>
              <a:rPr lang="en-US" sz="2400" b="1" spc="-7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Calisto MT" panose="02040603050505030304" pitchFamily="18" charset="0"/>
              </a:rPr>
              <a:t>Campaign </a:t>
            </a:r>
            <a:r>
              <a:rPr lang="en-US" sz="2400" b="1" spc="-40" dirty="0">
                <a:solidFill>
                  <a:schemeClr val="tx1"/>
                </a:solidFill>
                <a:latin typeface="Calisto MT" panose="02040603050505030304" pitchFamily="18" charset="0"/>
              </a:rPr>
              <a:t>Creators,</a:t>
            </a:r>
            <a:r>
              <a:rPr lang="en-US" sz="2400" b="1" spc="-11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40" dirty="0">
                <a:solidFill>
                  <a:schemeClr val="tx1"/>
                </a:solidFill>
                <a:latin typeface="Calisto MT" panose="02040603050505030304" pitchFamily="18" charset="0"/>
              </a:rPr>
              <a:t>and</a:t>
            </a:r>
            <a:r>
              <a:rPr lang="en-US" sz="2400" b="1" spc="-3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Calisto MT" panose="02040603050505030304" pitchFamily="18" charset="0"/>
              </a:rPr>
              <a:t>Contributors</a:t>
            </a:r>
            <a:r>
              <a:rPr lang="en-US" sz="2400" b="1" spc="2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to </a:t>
            </a:r>
            <a:r>
              <a:rPr lang="en-US" sz="2400" b="1" spc="-45" dirty="0">
                <a:solidFill>
                  <a:schemeClr val="tx1"/>
                </a:solidFill>
                <a:latin typeface="Calisto MT" panose="02040603050505030304" pitchFamily="18" charset="0"/>
              </a:rPr>
              <a:t>ensure</a:t>
            </a:r>
            <a:r>
              <a:rPr lang="en-US" sz="2400" b="1" spc="-8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sto MT" panose="02040603050505030304" pitchFamily="18" charset="0"/>
              </a:rPr>
              <a:t>a</a:t>
            </a:r>
            <a:r>
              <a:rPr lang="en-US" sz="2400" b="1" spc="-70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30" dirty="0">
                <a:solidFill>
                  <a:schemeClr val="tx1"/>
                </a:solidFill>
                <a:latin typeface="Calisto MT" panose="02040603050505030304" pitchFamily="18" charset="0"/>
              </a:rPr>
              <a:t>seamless,</a:t>
            </a:r>
            <a:r>
              <a:rPr lang="en-US" sz="2400" b="1" spc="-1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30" dirty="0">
                <a:solidFill>
                  <a:schemeClr val="tx1"/>
                </a:solidFill>
                <a:latin typeface="Calisto MT" panose="02040603050505030304" pitchFamily="18" charset="0"/>
              </a:rPr>
              <a:t>engaging</a:t>
            </a:r>
            <a:r>
              <a:rPr lang="en-US" sz="2400" b="1" spc="45" dirty="0">
                <a:solidFill>
                  <a:schemeClr val="tx1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spc="-20" dirty="0">
                <a:solidFill>
                  <a:schemeClr val="tx1"/>
                </a:solidFill>
                <a:latin typeface="Calisto MT" panose="02040603050505030304" pitchFamily="18" charset="0"/>
              </a:rPr>
              <a:t>user </a:t>
            </a:r>
            <a:r>
              <a:rPr lang="en-US" sz="2400" b="1" spc="-10" dirty="0">
                <a:solidFill>
                  <a:schemeClr val="tx1"/>
                </a:solidFill>
                <a:latin typeface="Calisto MT" panose="02040603050505030304" pitchFamily="18" charset="0"/>
              </a:rPr>
              <a:t>experience</a:t>
            </a:r>
            <a:endParaRPr lang="en-IN" sz="2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AEC32-84F3-C3C8-9BE5-FE7EF1356796}"/>
              </a:ext>
            </a:extLst>
          </p:cNvPr>
          <p:cNvSpPr/>
          <p:nvPr/>
        </p:nvSpPr>
        <p:spPr>
          <a:xfrm>
            <a:off x="4508500" y="6771416"/>
            <a:ext cx="1600200" cy="357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12A7F-1AEC-37D8-B972-7EC9651CEFDB}"/>
              </a:ext>
            </a:extLst>
          </p:cNvPr>
          <p:cNvSpPr txBox="1"/>
          <p:nvPr/>
        </p:nvSpPr>
        <p:spPr>
          <a:xfrm>
            <a:off x="4213772" y="6704267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Ronit Raj               24SCSE1180136</a:t>
            </a:r>
          </a:p>
          <a:p>
            <a:r>
              <a:rPr lang="en-IN" dirty="0"/>
              <a:t>Sneha Kumari       24SCSE1180010</a:t>
            </a:r>
          </a:p>
          <a:p>
            <a:r>
              <a:rPr lang="en-IN" dirty="0"/>
              <a:t>Robin Kumar </a:t>
            </a:r>
            <a:r>
              <a:rPr lang="en-IN" dirty="0" err="1"/>
              <a:t>Attri</a:t>
            </a:r>
            <a:r>
              <a:rPr lang="en-IN" dirty="0"/>
              <a:t>  24SCSE1180682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1" y="4715356"/>
            <a:ext cx="972791" cy="7221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1" y="3613858"/>
            <a:ext cx="972791" cy="7221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235" y="2459646"/>
            <a:ext cx="972791" cy="854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98821" y="1269314"/>
            <a:ext cx="594578" cy="43242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41301" y="5875761"/>
            <a:ext cx="972791" cy="854656"/>
            <a:chOff x="423411" y="5206140"/>
            <a:chExt cx="630613" cy="639621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411" y="5206140"/>
              <a:ext cx="630613" cy="63962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411" y="5206140"/>
              <a:ext cx="630613" cy="63962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96309" y="491129"/>
            <a:ext cx="968470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5"/>
              </a:spcBef>
            </a:pPr>
            <a:r>
              <a:rPr sz="3600" b="1" spc="-50" dirty="0">
                <a:solidFill>
                  <a:srgbClr val="1342CD"/>
                </a:solidFill>
                <a:latin typeface="Book Antiqua" panose="02040602050305030304" pitchFamily="18" charset="0"/>
              </a:rPr>
              <a:t>Defining</a:t>
            </a:r>
            <a:r>
              <a:rPr sz="3600" b="1" spc="-225" dirty="0">
                <a:solidFill>
                  <a:srgbClr val="1342CD"/>
                </a:solidFill>
                <a:latin typeface="Book Antiqua" panose="02040602050305030304" pitchFamily="18" charset="0"/>
              </a:rPr>
              <a:t> </a:t>
            </a:r>
            <a:r>
              <a:rPr sz="3600" b="1" spc="-105" dirty="0">
                <a:solidFill>
                  <a:srgbClr val="184FE6"/>
                </a:solidFill>
                <a:latin typeface="Book Antiqua" panose="02040602050305030304" pitchFamily="18" charset="0"/>
              </a:rPr>
              <a:t>Key</a:t>
            </a:r>
            <a:r>
              <a:rPr sz="3600" b="1" spc="-275" dirty="0">
                <a:solidFill>
                  <a:srgbClr val="184FE6"/>
                </a:solidFill>
                <a:latin typeface="Book Antiqua" panose="02040602050305030304" pitchFamily="18" charset="0"/>
              </a:rPr>
              <a:t> </a:t>
            </a:r>
            <a:r>
              <a:rPr sz="3600" b="1" spc="-165" dirty="0">
                <a:solidFill>
                  <a:srgbClr val="2F49D1"/>
                </a:solidFill>
                <a:latin typeface="Book Antiqua" panose="02040602050305030304" pitchFamily="18" charset="0"/>
              </a:rPr>
              <a:t>User</a:t>
            </a:r>
            <a:r>
              <a:rPr sz="3600" b="1" spc="-130" dirty="0">
                <a:solidFill>
                  <a:srgbClr val="2F49D1"/>
                </a:solidFill>
                <a:latin typeface="Book Antiqua" panose="02040602050305030304" pitchFamily="18" charset="0"/>
              </a:rPr>
              <a:t> </a:t>
            </a:r>
            <a:r>
              <a:rPr sz="3600" b="1" spc="-160" dirty="0">
                <a:solidFill>
                  <a:srgbClr val="314FC4"/>
                </a:solidFill>
                <a:latin typeface="Book Antiqua" panose="02040602050305030304" pitchFamily="18" charset="0"/>
              </a:rPr>
              <a:t>Roles</a:t>
            </a:r>
            <a:r>
              <a:rPr sz="3600" b="1" spc="-120" dirty="0">
                <a:solidFill>
                  <a:srgbClr val="314FC4"/>
                </a:solidFill>
                <a:latin typeface="Book Antiqua" panose="02040602050305030304" pitchFamily="18" charset="0"/>
              </a:rPr>
              <a:t> </a:t>
            </a:r>
            <a:r>
              <a:rPr sz="3600" b="1" spc="-40" dirty="0">
                <a:solidFill>
                  <a:srgbClr val="183DCA"/>
                </a:solidFill>
                <a:latin typeface="Book Antiqua" panose="02040602050305030304" pitchFamily="18" charset="0"/>
              </a:rPr>
              <a:t>for</a:t>
            </a:r>
            <a:r>
              <a:rPr sz="3600" b="1" spc="-215" dirty="0">
                <a:solidFill>
                  <a:srgbClr val="183DCA"/>
                </a:solidFill>
                <a:latin typeface="Book Antiqua" panose="02040602050305030304" pitchFamily="18" charset="0"/>
              </a:rPr>
              <a:t> </a:t>
            </a:r>
            <a:r>
              <a:rPr sz="3600" b="1" dirty="0">
                <a:solidFill>
                  <a:srgbClr val="2A5BC3"/>
                </a:solidFill>
                <a:latin typeface="Book Antiqua" panose="02040602050305030304" pitchFamily="18" charset="0"/>
              </a:rPr>
              <a:t>Ploflorm</a:t>
            </a:r>
            <a:r>
              <a:rPr sz="3600" b="1" spc="-195" dirty="0">
                <a:solidFill>
                  <a:srgbClr val="2A5BC3"/>
                </a:solidFill>
                <a:latin typeface="Book Antiqua" panose="02040602050305030304" pitchFamily="18" charset="0"/>
              </a:rPr>
              <a:t> </a:t>
            </a:r>
            <a:r>
              <a:rPr sz="3600" b="1" spc="-105" dirty="0">
                <a:solidFill>
                  <a:srgbClr val="2A49CF"/>
                </a:solidFill>
                <a:latin typeface="Book Antiqua" panose="02040602050305030304" pitchFamily="18" charset="0"/>
              </a:rPr>
              <a:t>Success</a:t>
            </a:r>
            <a:endParaRPr sz="3600" b="1" dirty="0">
              <a:latin typeface="Book Antiqua" panose="0204060205030503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1630" y="1333209"/>
            <a:ext cx="747014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Distinct</a:t>
            </a:r>
            <a:r>
              <a:rPr sz="2000"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responsibilities</a:t>
            </a:r>
            <a:r>
              <a:rPr sz="20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of </a:t>
            </a:r>
            <a:r>
              <a:rPr sz="20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Admins,</a:t>
            </a:r>
            <a:r>
              <a:rPr sz="2000"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</a:t>
            </a:r>
            <a:r>
              <a:rPr sz="20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Creators,</a:t>
            </a:r>
            <a:r>
              <a:rPr sz="20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20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Contributors</a:t>
            </a:r>
            <a:r>
              <a:rPr sz="2000" b="1" spc="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drive</a:t>
            </a:r>
            <a:r>
              <a:rPr sz="20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efficient</a:t>
            </a:r>
            <a:r>
              <a:rPr sz="20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platform</a:t>
            </a:r>
            <a:r>
              <a:rPr sz="2000" b="1" spc="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management</a:t>
            </a:r>
            <a:r>
              <a:rPr sz="20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20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engagement</a:t>
            </a:r>
            <a:endParaRPr sz="20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5821" y="2601319"/>
            <a:ext cx="8763000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Calisto MT" panose="02040603050505030304" pitchFamily="18" charset="0"/>
                <a:cs typeface="Arial MT"/>
              </a:rPr>
              <a:t>Adm</a:t>
            </a:r>
            <a:r>
              <a:rPr lang="en-IN" b="1" dirty="0" err="1">
                <a:latin typeface="Calisto MT" panose="02040603050505030304" pitchFamily="18" charset="0"/>
                <a:cs typeface="Arial MT"/>
              </a:rPr>
              <a:t>i</a:t>
            </a:r>
            <a:r>
              <a:rPr b="1" dirty="0">
                <a:latin typeface="Calisto MT" panose="02040603050505030304" pitchFamily="18" charset="0"/>
                <a:cs typeface="Arial MT"/>
              </a:rPr>
              <a:t>ns</a:t>
            </a:r>
            <a:r>
              <a:rPr b="1" spc="16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manage</a:t>
            </a:r>
            <a:r>
              <a:rPr b="1" spc="-6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latin typeface="Calisto MT" panose="02040603050505030304" pitchFamily="18" charset="0"/>
                <a:cs typeface="Arial MT"/>
              </a:rPr>
              <a:t>plat</a:t>
            </a:r>
            <a:r>
              <a:rPr lang="en-IN" b="1" spc="-10" dirty="0" err="1">
                <a:latin typeface="Calisto MT" panose="02040603050505030304" pitchFamily="18" charset="0"/>
                <a:cs typeface="Arial MT"/>
              </a:rPr>
              <a:t>fo</a:t>
            </a:r>
            <a:r>
              <a:rPr b="1" spc="-10" dirty="0">
                <a:latin typeface="Calisto MT" panose="02040603050505030304" pitchFamily="18" charset="0"/>
                <a:cs typeface="Arial MT"/>
              </a:rPr>
              <a:t>rm-</a:t>
            </a:r>
            <a:r>
              <a:rPr b="1" dirty="0">
                <a:latin typeface="Calisto MT" panose="02040603050505030304" pitchFamily="18" charset="0"/>
                <a:cs typeface="Arial MT"/>
              </a:rPr>
              <a:t>wide</a:t>
            </a:r>
            <a:r>
              <a:rPr b="1" spc="20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rgbClr val="0A0A0A"/>
                </a:solidFill>
                <a:latin typeface="Calisto MT" panose="02040603050505030304" pitchFamily="18" charset="0"/>
                <a:cs typeface="Arial MT"/>
              </a:rPr>
              <a:t>settings,</a:t>
            </a:r>
            <a:r>
              <a:rPr b="1" spc="20" dirty="0">
                <a:solidFill>
                  <a:srgbClr val="0A0A0A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rgbClr val="0F0F0F"/>
                </a:solidFill>
                <a:latin typeface="Calisto MT" panose="02040603050505030304" pitchFamily="18" charset="0"/>
                <a:cs typeface="Arial MT"/>
              </a:rPr>
              <a:t>oversee</a:t>
            </a:r>
            <a:r>
              <a:rPr b="1" spc="80" dirty="0">
                <a:solidFill>
                  <a:srgbClr val="0F0F0F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user</a:t>
            </a:r>
            <a:r>
              <a:rPr b="1" spc="13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accounts,</a:t>
            </a:r>
            <a:r>
              <a:rPr b="1" spc="5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and</a:t>
            </a:r>
            <a:r>
              <a:rPr b="1" spc="11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rgbClr val="080808"/>
                </a:solidFill>
                <a:latin typeface="Calisto MT" panose="02040603050505030304" pitchFamily="18" charset="0"/>
                <a:cs typeface="Arial MT"/>
              </a:rPr>
              <a:t>supervise</a:t>
            </a:r>
            <a:r>
              <a:rPr b="1" spc="125" dirty="0">
                <a:solidFill>
                  <a:srgbClr val="080808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rgbClr val="111111"/>
                </a:solidFill>
                <a:latin typeface="Calisto MT" panose="02040603050505030304" pitchFamily="18" charset="0"/>
                <a:cs typeface="Arial MT"/>
              </a:rPr>
              <a:t>all</a:t>
            </a:r>
            <a:r>
              <a:rPr b="1" spc="75" dirty="0">
                <a:solidFill>
                  <a:srgbClr val="11111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campalgne</a:t>
            </a:r>
            <a:r>
              <a:rPr b="1" spc="3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to</a:t>
            </a:r>
            <a:r>
              <a:rPr b="1" spc="15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latin typeface="Calisto MT" panose="02040603050505030304" pitchFamily="18" charset="0"/>
                <a:cs typeface="Arial MT"/>
              </a:rPr>
              <a:t>enetse</a:t>
            </a:r>
            <a:r>
              <a:rPr b="1" spc="-3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50" dirty="0">
                <a:solidFill>
                  <a:srgbClr val="070707"/>
                </a:solidFill>
                <a:latin typeface="Calisto MT" panose="02040603050505030304" pitchFamily="18" charset="0"/>
                <a:cs typeface="Arial MT"/>
              </a:rPr>
              <a:t>smooth</a:t>
            </a:r>
            <a:r>
              <a:rPr b="1" spc="45" dirty="0">
                <a:solidFill>
                  <a:srgbClr val="070707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operations</a:t>
            </a:r>
            <a:r>
              <a:rPr sz="1000" spc="-10" dirty="0">
                <a:solidFill>
                  <a:srgbClr val="131313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5821" y="3664709"/>
            <a:ext cx="782087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Creators</a:t>
            </a:r>
            <a:r>
              <a:rPr b="1" spc="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9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la</a:t>
            </a:r>
            <a:r>
              <a:rPr lang="en-IN" b="1" spc="-90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unch</a:t>
            </a:r>
            <a:r>
              <a:rPr b="1" spc="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manage</a:t>
            </a:r>
            <a:r>
              <a:rPr b="1" spc="-10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fundraising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campaigns,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track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progress,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lang="en-IN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effectively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</a:t>
            </a:r>
            <a:r>
              <a:rPr b="1" spc="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with</a:t>
            </a:r>
            <a:r>
              <a:rPr b="1" spc="-9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contributors</a:t>
            </a:r>
            <a:r>
              <a:rPr sz="1100" b="1" spc="-10" dirty="0">
                <a:solidFill>
                  <a:schemeClr val="tx1"/>
                </a:solidFill>
                <a:latin typeface="Arial MT"/>
                <a:cs typeface="Arial MT"/>
              </a:rPr>
              <a:t>.</a:t>
            </a:r>
            <a:endParaRPr sz="11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5821" y="4791119"/>
            <a:ext cx="6833870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Contributors</a:t>
            </a:r>
            <a:r>
              <a:rPr b="1" spc="9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provide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fi</a:t>
            </a:r>
            <a:r>
              <a:rPr lang="en-IN" b="1" spc="-55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nancial</a:t>
            </a:r>
            <a:r>
              <a:rPr b="1" spc="6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lang="en-IN" b="1" spc="-7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s</a:t>
            </a:r>
            <a:r>
              <a:rPr b="1" spc="-7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upport</a:t>
            </a:r>
            <a:r>
              <a:rPr b="1" spc="-7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,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3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mon</a:t>
            </a:r>
            <a:r>
              <a:rPr lang="en-IN" b="1" spc="-3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itor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their</a:t>
            </a:r>
            <a:r>
              <a:rPr b="1" spc="-8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donations,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receive</a:t>
            </a:r>
            <a:r>
              <a:rPr b="1" spc="3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updates,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maintain</a:t>
            </a:r>
            <a:r>
              <a:rPr b="1" spc="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their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personal</a:t>
            </a:r>
            <a:r>
              <a:rPr b="1" spc="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profiles.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32755" y="6017754"/>
            <a:ext cx="836675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Clear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understanding</a:t>
            </a:r>
            <a:r>
              <a:rPr b="1" spc="16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of</a:t>
            </a:r>
            <a:r>
              <a:rPr lang="en-IN" b="1" spc="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lang="en-IN" b="1" spc="5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e</a:t>
            </a:r>
            <a:r>
              <a:rPr b="1" spc="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roles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enables</a:t>
            </a:r>
            <a:r>
              <a:rPr b="1" spc="114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developers</a:t>
            </a:r>
            <a:r>
              <a:rPr b="1" spc="18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to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learn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features</a:t>
            </a:r>
            <a:r>
              <a:rPr b="1" spc="10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workflows</a:t>
            </a:r>
            <a:r>
              <a:rPr b="1" spc="19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h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at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meet</a:t>
            </a:r>
            <a:r>
              <a:rPr b="1" spc="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use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r</a:t>
            </a:r>
            <a:r>
              <a:rPr b="1" spc="7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needs</a:t>
            </a:r>
            <a:r>
              <a:rPr b="1" spc="8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improve</a:t>
            </a:r>
            <a:r>
              <a:rPr b="1" spc="1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platform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interaction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00" y="348089"/>
            <a:ext cx="10604500" cy="5071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115"/>
              </a:spcBef>
            </a:pPr>
            <a:r>
              <a:rPr sz="3200" b="1" spc="70" dirty="0">
                <a:solidFill>
                  <a:srgbClr val="0E2ABC"/>
                </a:solidFill>
                <a:latin typeface="Book Antiqua" panose="02040602050305030304" pitchFamily="18" charset="0"/>
              </a:rPr>
              <a:t>Admin</a:t>
            </a:r>
            <a:r>
              <a:rPr sz="3200" b="1" spc="-195" dirty="0">
                <a:solidFill>
                  <a:srgbClr val="0E2ABC"/>
                </a:solidFill>
                <a:latin typeface="Book Antiqua" panose="02040602050305030304" pitchFamily="18" charset="0"/>
              </a:rPr>
              <a:t> </a:t>
            </a:r>
            <a:r>
              <a:rPr sz="3200" b="1" spc="-85" dirty="0">
                <a:solidFill>
                  <a:srgbClr val="214FD1"/>
                </a:solidFill>
                <a:latin typeface="Book Antiqua" panose="02040602050305030304" pitchFamily="18" charset="0"/>
              </a:rPr>
              <a:t>Role</a:t>
            </a:r>
            <a:r>
              <a:rPr lang="en-IN" sz="3200" b="1" spc="-85" dirty="0">
                <a:solidFill>
                  <a:srgbClr val="214FD1"/>
                </a:solidFill>
                <a:latin typeface="Book Antiqua" panose="02040602050305030304" pitchFamily="18" charset="0"/>
              </a:rPr>
              <a:t> </a:t>
            </a:r>
            <a:r>
              <a:rPr sz="3200" b="1" spc="-85" dirty="0">
                <a:solidFill>
                  <a:srgbClr val="214FD1"/>
                </a:solidFill>
                <a:latin typeface="Book Antiqua" panose="02040602050305030304" pitchFamily="18" charset="0"/>
              </a:rPr>
              <a:t>:</a:t>
            </a:r>
            <a:r>
              <a:rPr sz="3200" b="1" spc="-310" dirty="0">
                <a:solidFill>
                  <a:srgbClr val="214FD1"/>
                </a:solidFill>
                <a:latin typeface="Book Antiqua" panose="02040602050305030304" pitchFamily="18" charset="0"/>
              </a:rPr>
              <a:t> </a:t>
            </a:r>
            <a:r>
              <a:rPr lang="en-IN" sz="3200" b="1" spc="-310" dirty="0">
                <a:solidFill>
                  <a:srgbClr val="214FD1"/>
                </a:solidFill>
                <a:latin typeface="Book Antiqua" panose="02040602050305030304" pitchFamily="18" charset="0"/>
              </a:rPr>
              <a:t> </a:t>
            </a:r>
            <a:r>
              <a:rPr sz="3200" b="1" spc="105" dirty="0">
                <a:solidFill>
                  <a:srgbClr val="2649C1"/>
                </a:solidFill>
                <a:latin typeface="Book Antiqua" panose="02040602050305030304" pitchFamily="18" charset="0"/>
              </a:rPr>
              <a:t>Comm</a:t>
            </a:r>
            <a:r>
              <a:rPr lang="en-IN" sz="3200" b="1" spc="105" dirty="0">
                <a:solidFill>
                  <a:srgbClr val="2649C1"/>
                </a:solidFill>
                <a:latin typeface="Book Antiqua" panose="02040602050305030304" pitchFamily="18" charset="0"/>
              </a:rPr>
              <a:t>a</a:t>
            </a:r>
            <a:r>
              <a:rPr sz="3200" b="1" spc="105" dirty="0" err="1">
                <a:solidFill>
                  <a:srgbClr val="2649C1"/>
                </a:solidFill>
                <a:latin typeface="Book Antiqua" panose="02040602050305030304" pitchFamily="18" charset="0"/>
              </a:rPr>
              <a:t>nding</a:t>
            </a:r>
            <a:r>
              <a:rPr sz="3200" b="1" spc="-120" dirty="0">
                <a:solidFill>
                  <a:srgbClr val="2649C1"/>
                </a:solidFill>
                <a:latin typeface="Book Antiqua" panose="02040602050305030304" pitchFamily="18" charset="0"/>
              </a:rPr>
              <a:t> </a:t>
            </a:r>
            <a:r>
              <a:rPr lang="en-IN" sz="3200" b="1" spc="-120" dirty="0">
                <a:solidFill>
                  <a:srgbClr val="2649C1"/>
                </a:solidFill>
                <a:latin typeface="Book Antiqua" panose="02040602050305030304" pitchFamily="18" charset="0"/>
              </a:rPr>
              <a:t> </a:t>
            </a:r>
            <a:r>
              <a:rPr sz="3200" b="1" spc="60" dirty="0">
                <a:solidFill>
                  <a:srgbClr val="284FD8"/>
                </a:solidFill>
                <a:latin typeface="Book Antiqua" panose="02040602050305030304" pitchFamily="18" charset="0"/>
              </a:rPr>
              <a:t>Pl</a:t>
            </a:r>
            <a:r>
              <a:rPr lang="en-IN" sz="3200" b="1" spc="60" dirty="0">
                <a:solidFill>
                  <a:srgbClr val="284FD8"/>
                </a:solidFill>
                <a:latin typeface="Book Antiqua" panose="02040602050305030304" pitchFamily="18" charset="0"/>
              </a:rPr>
              <a:t>at</a:t>
            </a:r>
            <a:r>
              <a:rPr sz="3200" b="1" spc="60" dirty="0">
                <a:solidFill>
                  <a:srgbClr val="284FD8"/>
                </a:solidFill>
                <a:latin typeface="Book Antiqua" panose="02040602050305030304" pitchFamily="18" charset="0"/>
              </a:rPr>
              <a:t>form</a:t>
            </a:r>
            <a:r>
              <a:rPr lang="en-IN" sz="3200" b="1" spc="-190" dirty="0">
                <a:solidFill>
                  <a:srgbClr val="284FD8"/>
                </a:solidFill>
                <a:latin typeface="Book Antiqua" panose="02040602050305030304" pitchFamily="18" charset="0"/>
              </a:rPr>
              <a:t>   </a:t>
            </a:r>
            <a:r>
              <a:rPr sz="3200" b="1" spc="60" dirty="0">
                <a:solidFill>
                  <a:srgbClr val="2349A1"/>
                </a:solidFill>
                <a:latin typeface="Book Antiqua" panose="02040602050305030304" pitchFamily="18" charset="0"/>
              </a:rPr>
              <a:t>M</a:t>
            </a:r>
            <a:r>
              <a:rPr lang="en-IN" sz="3200" b="1" spc="60" dirty="0">
                <a:solidFill>
                  <a:srgbClr val="2349A1"/>
                </a:solidFill>
                <a:latin typeface="Book Antiqua" panose="02040602050305030304" pitchFamily="18" charset="0"/>
              </a:rPr>
              <a:t>a</a:t>
            </a:r>
            <a:r>
              <a:rPr sz="3200" b="1" spc="60" dirty="0">
                <a:solidFill>
                  <a:srgbClr val="2349A1"/>
                </a:solidFill>
                <a:latin typeface="Book Antiqua" panose="02040602050305030304" pitchFamily="18" charset="0"/>
              </a:rPr>
              <a:t>n</a:t>
            </a:r>
            <a:r>
              <a:rPr lang="en-IN" sz="3200" b="1" spc="60" dirty="0">
                <a:solidFill>
                  <a:srgbClr val="2349A1"/>
                </a:solidFill>
                <a:latin typeface="Book Antiqua" panose="02040602050305030304" pitchFamily="18" charset="0"/>
              </a:rPr>
              <a:t>a</a:t>
            </a:r>
            <a:r>
              <a:rPr sz="3200" b="1" spc="60" dirty="0" err="1">
                <a:solidFill>
                  <a:srgbClr val="2349A1"/>
                </a:solidFill>
                <a:latin typeface="Book Antiqua" panose="02040602050305030304" pitchFamily="18" charset="0"/>
              </a:rPr>
              <a:t>gement</a:t>
            </a:r>
            <a:endParaRPr sz="3200" b="1" dirty="0">
              <a:latin typeface="Book Antiqua" panose="0204060205030503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499986"/>
            <a:ext cx="9914182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Empowering</a:t>
            </a:r>
            <a:r>
              <a:rPr sz="2800" b="1" spc="7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Admins</a:t>
            </a:r>
            <a:r>
              <a:rPr sz="28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to</a:t>
            </a:r>
            <a:r>
              <a:rPr sz="2800" b="1" spc="-7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Maintain</a:t>
            </a:r>
            <a:r>
              <a:rPr sz="2800" b="1" spc="-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Security,</a:t>
            </a:r>
            <a:r>
              <a:rPr sz="2800"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Accuracy,</a:t>
            </a:r>
            <a:r>
              <a:rPr sz="2800" b="1" spc="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</a:t>
            </a:r>
            <a:r>
              <a:rPr sz="2800" b="1" spc="-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Stability</a:t>
            </a:r>
            <a:endParaRPr sz="2800"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75" y="3373677"/>
            <a:ext cx="3272137" cy="9653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18400"/>
              </a:lnSpc>
              <a:spcBef>
                <a:spcPts val="90"/>
              </a:spcBef>
            </a:pP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Manage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user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accounts,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including</a:t>
            </a: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creation,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modification,</a:t>
            </a:r>
            <a:r>
              <a:rPr b="1" spc="9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deactivation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56" y="5057730"/>
            <a:ext cx="3272136" cy="9722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 marR="5080" indent="-6350">
              <a:lnSpc>
                <a:spcPct val="118400"/>
              </a:lnSpc>
              <a:spcBef>
                <a:spcPts val="90"/>
              </a:spcBef>
            </a:pPr>
            <a:r>
              <a:rPr b="1" spc="-7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Ensure</a:t>
            </a:r>
            <a:r>
              <a:rPr b="1" spc="-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overall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platform</a:t>
            </a:r>
            <a:r>
              <a:rPr b="1" spc="7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integrity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7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by</a:t>
            </a:r>
            <a:r>
              <a:rPr b="1" spc="-6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monitoring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activity</a:t>
            </a:r>
            <a:r>
              <a:rPr b="1" spc="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 </a:t>
            </a:r>
            <a:r>
              <a:rPr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intervening</a:t>
            </a:r>
            <a:r>
              <a:rPr b="1" spc="-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as</a:t>
            </a:r>
            <a:r>
              <a:rPr b="1" spc="-5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needed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0894" y="3373677"/>
            <a:ext cx="2984500" cy="9734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marR="5080" indent="-1905">
              <a:lnSpc>
                <a:spcPct val="118400"/>
              </a:lnSpc>
              <a:spcBef>
                <a:spcPts val="90"/>
              </a:spcBef>
            </a:pPr>
            <a:r>
              <a:rPr b="1" spc="-3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Oversee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campaign</a:t>
            </a:r>
            <a:r>
              <a:rPr b="1" spc="4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activities</a:t>
            </a:r>
            <a:r>
              <a:rPr b="1" spc="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to</a:t>
            </a:r>
            <a:r>
              <a:rPr b="1" spc="-7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ensure</a:t>
            </a:r>
            <a:r>
              <a:rPr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compliance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</a:t>
            </a:r>
            <a:r>
              <a:rPr b="1" spc="-9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effectiveness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3857" y="3365598"/>
            <a:ext cx="3389068" cy="9734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890">
              <a:lnSpc>
                <a:spcPct val="118400"/>
              </a:lnSpc>
              <a:spcBef>
                <a:spcPts val="90"/>
              </a:spcBef>
            </a:pP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Adjust</a:t>
            </a:r>
            <a:r>
              <a:rPr b="1" spc="1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lang="en-IN" b="1" spc="-3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</a:t>
            </a:r>
            <a:r>
              <a:rPr b="1" spc="-35" dirty="0" err="1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ite</a:t>
            </a:r>
            <a:r>
              <a:rPr b="1" spc="-3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-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wide</a:t>
            </a:r>
            <a:r>
              <a:rPr b="1" spc="8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settings</a:t>
            </a:r>
            <a:r>
              <a:rPr b="1" spc="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to</a:t>
            </a:r>
            <a:r>
              <a:rPr b="1" spc="-6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optimize</a:t>
            </a:r>
            <a:r>
              <a:rPr b="1" spc="-3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platform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performance</a:t>
            </a:r>
            <a:r>
              <a:rPr b="1" spc="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</a:t>
            </a:r>
            <a:r>
              <a:rPr b="1" spc="-4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policies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2612" y="5057730"/>
            <a:ext cx="3771245" cy="1282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6985">
              <a:lnSpc>
                <a:spcPct val="115700"/>
              </a:lnSpc>
              <a:spcBef>
                <a:spcPts val="125"/>
              </a:spcBef>
            </a:pPr>
            <a:r>
              <a:rPr b="1" spc="-5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Developers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must</a:t>
            </a:r>
            <a:r>
              <a:rPr b="1" spc="-7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implement</a:t>
            </a:r>
            <a:r>
              <a:rPr b="1" spc="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robust</a:t>
            </a:r>
            <a:r>
              <a:rPr b="1" spc="-4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access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controls</a:t>
            </a:r>
            <a:r>
              <a:rPr b="1" spc="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intuitive</a:t>
            </a:r>
            <a:r>
              <a:rPr b="1" spc="1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interfaces</a:t>
            </a:r>
            <a:r>
              <a:rPr b="1" spc="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for</a:t>
            </a:r>
            <a:r>
              <a:rPr b="1" spc="-10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efficient</a:t>
            </a:r>
            <a:r>
              <a:rPr b="1" spc="-1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admin monitoring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0084" y="5057730"/>
            <a:ext cx="3473315" cy="9734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35">
              <a:lnSpc>
                <a:spcPct val="118400"/>
              </a:lnSpc>
              <a:spcBef>
                <a:spcPts val="90"/>
              </a:spcBef>
            </a:pP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These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functions</a:t>
            </a:r>
            <a:r>
              <a:rPr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are</a:t>
            </a:r>
            <a:r>
              <a:rPr b="1" spc="-7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critical</a:t>
            </a: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to</a:t>
            </a:r>
            <a:r>
              <a:rPr b="1" spc="-5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maintaining</a:t>
            </a:r>
            <a:r>
              <a:rPr b="1" spc="9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syctem </a:t>
            </a:r>
            <a:r>
              <a:rPr b="1" spc="-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security,</a:t>
            </a:r>
            <a:r>
              <a:rPr b="1" spc="-6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data</a:t>
            </a:r>
            <a:r>
              <a:rPr b="1" spc="-4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5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accuracy,</a:t>
            </a:r>
            <a:r>
              <a:rPr b="1" spc="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6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</a:t>
            </a:r>
            <a:r>
              <a:rPr b="1" spc="-9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operational</a:t>
            </a:r>
            <a:r>
              <a:rPr b="1" spc="4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stability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7771"/>
            <a:ext cx="6248400" cy="7207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15379" y="0"/>
            <a:ext cx="578021" cy="6954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48400" y="882650"/>
            <a:ext cx="4447190" cy="181806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5080" algn="l">
              <a:lnSpc>
                <a:spcPts val="3325"/>
              </a:lnSpc>
              <a:spcBef>
                <a:spcPts val="115"/>
              </a:spcBef>
            </a:pPr>
            <a:r>
              <a:rPr sz="3200" spc="-60" dirty="0">
                <a:solidFill>
                  <a:srgbClr val="1D4FCD"/>
                </a:solidFill>
                <a:latin typeface="Book Antiqua" panose="02040602050305030304" pitchFamily="18" charset="0"/>
                <a:cs typeface="Arial MT"/>
              </a:rPr>
              <a:t>Empowering</a:t>
            </a:r>
            <a:r>
              <a:rPr sz="3200" spc="-140" dirty="0">
                <a:solidFill>
                  <a:srgbClr val="1D4FCD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3200" spc="-10" dirty="0">
                <a:solidFill>
                  <a:srgbClr val="2848D4"/>
                </a:solidFill>
                <a:latin typeface="Book Antiqua" panose="02040602050305030304" pitchFamily="18" charset="0"/>
                <a:cs typeface="Arial MT"/>
              </a:rPr>
              <a:t>C</a:t>
            </a:r>
            <a:r>
              <a:rPr lang="en-IN" sz="3200" spc="-10" dirty="0">
                <a:solidFill>
                  <a:srgbClr val="2848D4"/>
                </a:solidFill>
                <a:latin typeface="Book Antiqua" panose="02040602050305030304" pitchFamily="18" charset="0"/>
                <a:cs typeface="Arial MT"/>
              </a:rPr>
              <a:t>a</a:t>
            </a:r>
            <a:r>
              <a:rPr sz="3200" spc="-10" dirty="0" err="1">
                <a:solidFill>
                  <a:srgbClr val="2848D4"/>
                </a:solidFill>
                <a:latin typeface="Book Antiqua" panose="02040602050305030304" pitchFamily="18" charset="0"/>
                <a:cs typeface="Arial MT"/>
              </a:rPr>
              <a:t>mpaign</a:t>
            </a:r>
            <a:endParaRPr sz="3200" dirty="0">
              <a:latin typeface="Book Antiqua" panose="02040602050305030304" pitchFamily="18" charset="0"/>
              <a:cs typeface="Arial MT"/>
            </a:endParaRPr>
          </a:p>
          <a:p>
            <a:pPr marR="26670" algn="l">
              <a:lnSpc>
                <a:spcPts val="3385"/>
              </a:lnSpc>
            </a:pPr>
            <a:r>
              <a:rPr lang="en-IN" sz="3200" spc="-7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    </a:t>
            </a:r>
            <a:r>
              <a:rPr sz="3200" spc="-7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Cre</a:t>
            </a:r>
            <a:r>
              <a:rPr lang="en-IN" sz="3200" spc="-7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a</a:t>
            </a:r>
            <a:r>
              <a:rPr sz="3200" spc="-7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tors</a:t>
            </a:r>
            <a:r>
              <a:rPr sz="3200" spc="-14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lang="en-IN" sz="3200" spc="-145" dirty="0">
                <a:solidFill>
                  <a:srgbClr val="385DC6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3200" spc="65" dirty="0">
                <a:solidFill>
                  <a:srgbClr val="2D52C4"/>
                </a:solidFill>
                <a:latin typeface="Book Antiqua" panose="02040602050305030304" pitchFamily="18" charset="0"/>
                <a:cs typeface="Arial MT"/>
              </a:rPr>
              <a:t>to</a:t>
            </a:r>
            <a:r>
              <a:rPr sz="3200" spc="-420" dirty="0">
                <a:solidFill>
                  <a:srgbClr val="2D52C4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lang="en-IN" sz="3200" spc="-420" dirty="0">
                <a:solidFill>
                  <a:srgbClr val="2D52C4"/>
                </a:solidFill>
                <a:latin typeface="Book Antiqua" panose="02040602050305030304" pitchFamily="18" charset="0"/>
                <a:cs typeface="Arial MT"/>
              </a:rPr>
              <a:t>   </a:t>
            </a:r>
            <a:r>
              <a:rPr sz="3200" spc="-105" dirty="0">
                <a:solidFill>
                  <a:srgbClr val="184BE9"/>
                </a:solidFill>
                <a:latin typeface="Book Antiqua" panose="02040602050305030304" pitchFamily="18" charset="0"/>
                <a:cs typeface="Arial MT"/>
              </a:rPr>
              <a:t>Drive</a:t>
            </a:r>
            <a:r>
              <a:rPr sz="3200" spc="-229" dirty="0">
                <a:solidFill>
                  <a:srgbClr val="184BE9"/>
                </a:solidFill>
                <a:latin typeface="Book Antiqua" panose="02040602050305030304" pitchFamily="18" charset="0"/>
                <a:cs typeface="Arial MT"/>
              </a:rPr>
              <a:t> </a:t>
            </a:r>
            <a:endParaRPr lang="en-IN" sz="3200" spc="-229" dirty="0">
              <a:solidFill>
                <a:srgbClr val="184BE9"/>
              </a:solidFill>
              <a:latin typeface="Book Antiqua" panose="02040602050305030304" pitchFamily="18" charset="0"/>
              <a:cs typeface="Arial MT"/>
            </a:endParaRPr>
          </a:p>
          <a:p>
            <a:pPr marR="26670" algn="l">
              <a:lnSpc>
                <a:spcPts val="3385"/>
              </a:lnSpc>
            </a:pPr>
            <a:r>
              <a:rPr lang="en-IN" sz="3200" spc="-229" dirty="0">
                <a:solidFill>
                  <a:srgbClr val="184BE9"/>
                </a:solidFill>
                <a:latin typeface="Book Antiqua" panose="02040602050305030304" pitchFamily="18" charset="0"/>
                <a:cs typeface="Arial MT"/>
              </a:rPr>
              <a:t>    </a:t>
            </a:r>
            <a:r>
              <a:rPr lang="en-IN"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Fu</a:t>
            </a:r>
            <a:r>
              <a:rPr sz="3200" spc="-55" dirty="0" err="1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nd</a:t>
            </a:r>
            <a:r>
              <a:rPr lang="en-IN"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r</a:t>
            </a:r>
            <a:r>
              <a:rPr lang="en-IN"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ai</a:t>
            </a:r>
            <a:r>
              <a:rPr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sing</a:t>
            </a:r>
            <a:r>
              <a:rPr lang="en-IN" sz="3200" spc="-55" dirty="0">
                <a:solidFill>
                  <a:srgbClr val="2350C8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lang="en-IN" sz="3200" spc="-10" dirty="0">
                <a:solidFill>
                  <a:srgbClr val="2A5BD8"/>
                </a:solidFill>
                <a:latin typeface="Arial MT"/>
                <a:cs typeface="Arial MT"/>
              </a:rPr>
              <a:t>success</a:t>
            </a:r>
            <a:endParaRPr lang="en-IN" sz="3200" dirty="0">
              <a:latin typeface="Arial MT"/>
              <a:cs typeface="Arial MT"/>
            </a:endParaRPr>
          </a:p>
          <a:p>
            <a:pPr marR="26670" algn="l">
              <a:lnSpc>
                <a:spcPts val="3385"/>
              </a:lnSpc>
            </a:pPr>
            <a:endParaRPr sz="3200" dirty="0">
              <a:latin typeface="Book Antiqua" panose="02040602050305030304" pitchFamily="18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7301" y="3665304"/>
            <a:ext cx="4356100" cy="153054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6985" algn="l">
              <a:lnSpc>
                <a:spcPct val="100000"/>
              </a:lnSpc>
              <a:spcBef>
                <a:spcPts val="960"/>
              </a:spcBef>
            </a:pPr>
            <a:r>
              <a:rPr sz="2400" b="1" spc="-3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Design,</a:t>
            </a:r>
            <a:r>
              <a:rPr sz="2400" b="1" spc="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spc="-3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manage, 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</a:t>
            </a:r>
            <a:r>
              <a:rPr sz="2400" b="1" spc="-8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optimize</a:t>
            </a:r>
            <a:r>
              <a:rPr sz="2400" b="1" spc="1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campaigns</a:t>
            </a:r>
            <a:r>
              <a:rPr sz="2400" b="1" spc="1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with</a:t>
            </a:r>
            <a:r>
              <a:rPr sz="2400" b="1" spc="-1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real-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time</a:t>
            </a:r>
            <a:r>
              <a:rPr sz="2400" b="1" spc="4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insights</a:t>
            </a:r>
            <a:r>
              <a:rPr sz="2400" b="1" spc="-25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and </a:t>
            </a:r>
            <a:r>
              <a:rPr sz="24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co</a:t>
            </a:r>
            <a:r>
              <a:rPr lang="en-IN" sz="2400" b="1" spc="-10" dirty="0" err="1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ntr</a:t>
            </a:r>
            <a:r>
              <a:rPr sz="2400" b="1" spc="-10" dirty="0" err="1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ibut</a:t>
            </a:r>
            <a:r>
              <a:rPr lang="en-IN" sz="24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o</a:t>
            </a:r>
            <a:r>
              <a:rPr sz="24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r</a:t>
            </a:r>
            <a:endParaRPr sz="2400" b="1" dirty="0">
              <a:solidFill>
                <a:schemeClr val="tx1"/>
              </a:solidFill>
              <a:latin typeface="Book Antiqua" panose="02040602050305030304" pitchFamily="18" charset="0"/>
              <a:cs typeface="Arial MT"/>
            </a:endParaRPr>
          </a:p>
          <a:p>
            <a:pPr marR="5080" algn="l">
              <a:lnSpc>
                <a:spcPct val="100000"/>
              </a:lnSpc>
              <a:spcBef>
                <a:spcPts val="305"/>
              </a:spcBef>
            </a:pPr>
            <a:r>
              <a:rPr lang="en-IN" sz="24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e</a:t>
            </a:r>
            <a:r>
              <a:rPr sz="2400" b="1" spc="-10" dirty="0" err="1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nga</a:t>
            </a:r>
            <a:r>
              <a:rPr lang="en-IN" sz="2400" b="1" spc="-10" dirty="0" err="1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gement</a:t>
            </a:r>
            <a:r>
              <a:rPr lang="en-IN" sz="2400" b="1" spc="-10" dirty="0">
                <a:solidFill>
                  <a:schemeClr val="tx1"/>
                </a:solidFill>
                <a:latin typeface="Book Antiqua" panose="02040602050305030304" pitchFamily="18" charset="0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1271" y="1041745"/>
            <a:ext cx="604095" cy="72398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15217" y="4893944"/>
            <a:ext cx="3176905" cy="2040889"/>
            <a:chOff x="405736" y="4302702"/>
            <a:chExt cx="3176905" cy="2040889"/>
          </a:xfrm>
        </p:grpSpPr>
        <p:sp>
          <p:nvSpPr>
            <p:cNvPr id="6" name="object 6"/>
            <p:cNvSpPr/>
            <p:nvPr/>
          </p:nvSpPr>
          <p:spPr>
            <a:xfrm>
              <a:off x="407238" y="4302702"/>
              <a:ext cx="0" cy="2040889"/>
            </a:xfrm>
            <a:custGeom>
              <a:avLst/>
              <a:gdLst/>
              <a:ahLst/>
              <a:cxnLst/>
              <a:rect l="l" t="t" r="r" b="b"/>
              <a:pathLst>
                <a:path h="2040889">
                  <a:moveTo>
                    <a:pt x="0" y="2040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5B67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736" y="6341900"/>
              <a:ext cx="3176905" cy="0"/>
            </a:xfrm>
            <a:custGeom>
              <a:avLst/>
              <a:gdLst/>
              <a:ahLst/>
              <a:cxnLst/>
              <a:rect l="l" t="t" r="r" b="b"/>
              <a:pathLst>
                <a:path w="3176904">
                  <a:moveTo>
                    <a:pt x="0" y="0"/>
                  </a:moveTo>
                  <a:lnTo>
                    <a:pt x="3176763" y="0"/>
                  </a:lnTo>
                </a:path>
              </a:pathLst>
            </a:custGeom>
            <a:ln w="3175">
              <a:solidFill>
                <a:srgbClr val="5B67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798630" y="6933142"/>
            <a:ext cx="3150235" cy="0"/>
          </a:xfrm>
          <a:custGeom>
            <a:avLst/>
            <a:gdLst/>
            <a:ahLst/>
            <a:cxnLst/>
            <a:rect l="l" t="t" r="r" b="b"/>
            <a:pathLst>
              <a:path w="3150234">
                <a:moveTo>
                  <a:pt x="0" y="0"/>
                </a:moveTo>
                <a:lnTo>
                  <a:pt x="3149714" y="0"/>
                </a:lnTo>
              </a:path>
            </a:pathLst>
          </a:custGeom>
          <a:ln w="3175">
            <a:solidFill>
              <a:srgbClr val="64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16399" y="2530424"/>
            <a:ext cx="3185795" cy="2049780"/>
            <a:chOff x="405736" y="2129762"/>
            <a:chExt cx="3185795" cy="2049780"/>
          </a:xfrm>
        </p:grpSpPr>
        <p:sp>
          <p:nvSpPr>
            <p:cNvPr id="10" name="object 10"/>
            <p:cNvSpPr/>
            <p:nvPr/>
          </p:nvSpPr>
          <p:spPr>
            <a:xfrm>
              <a:off x="416255" y="2129762"/>
              <a:ext cx="0" cy="2040889"/>
            </a:xfrm>
            <a:custGeom>
              <a:avLst/>
              <a:gdLst/>
              <a:ahLst/>
              <a:cxnLst/>
              <a:rect l="l" t="t" r="r" b="b"/>
              <a:pathLst>
                <a:path h="2040889">
                  <a:moveTo>
                    <a:pt x="0" y="2040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B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752" y="4177976"/>
              <a:ext cx="3176905" cy="0"/>
            </a:xfrm>
            <a:custGeom>
              <a:avLst/>
              <a:gdLst/>
              <a:ahLst/>
              <a:cxnLst/>
              <a:rect l="l" t="t" r="r" b="b"/>
              <a:pathLst>
                <a:path w="3176904">
                  <a:moveTo>
                    <a:pt x="0" y="0"/>
                  </a:moveTo>
                  <a:lnTo>
                    <a:pt x="3176763" y="0"/>
                  </a:lnTo>
                </a:path>
              </a:pathLst>
            </a:custGeom>
            <a:ln w="3175">
              <a:solidFill>
                <a:srgbClr val="4F5B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736" y="2140280"/>
              <a:ext cx="3185795" cy="0"/>
            </a:xfrm>
            <a:custGeom>
              <a:avLst/>
              <a:gdLst/>
              <a:ahLst/>
              <a:cxnLst/>
              <a:rect l="l" t="t" r="r" b="b"/>
              <a:pathLst>
                <a:path w="3185795">
                  <a:moveTo>
                    <a:pt x="0" y="0"/>
                  </a:moveTo>
                  <a:lnTo>
                    <a:pt x="3185780" y="0"/>
                  </a:lnTo>
                </a:path>
              </a:pathLst>
            </a:custGeom>
            <a:ln w="3175">
              <a:solidFill>
                <a:srgbClr val="4F5B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753802" y="4571313"/>
            <a:ext cx="3185795" cy="0"/>
          </a:xfrm>
          <a:custGeom>
            <a:avLst/>
            <a:gdLst/>
            <a:ahLst/>
            <a:cxnLst/>
            <a:rect l="l" t="t" r="r" b="b"/>
            <a:pathLst>
              <a:path w="3185795">
                <a:moveTo>
                  <a:pt x="0" y="0"/>
                </a:moveTo>
                <a:lnTo>
                  <a:pt x="3185780" y="0"/>
                </a:lnTo>
              </a:path>
            </a:pathLst>
          </a:custGeom>
          <a:ln w="3175">
            <a:solidFill>
              <a:srgbClr val="4B5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8630" y="2540942"/>
            <a:ext cx="3168015" cy="0"/>
          </a:xfrm>
          <a:custGeom>
            <a:avLst/>
            <a:gdLst/>
            <a:ahLst/>
            <a:cxnLst/>
            <a:rect l="l" t="t" r="r" b="b"/>
            <a:pathLst>
              <a:path w="3168015">
                <a:moveTo>
                  <a:pt x="0" y="0"/>
                </a:moveTo>
                <a:lnTo>
                  <a:pt x="3167747" y="0"/>
                </a:lnTo>
              </a:path>
            </a:pathLst>
          </a:custGeom>
          <a:ln w="3175">
            <a:solidFill>
              <a:srgbClr val="575B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116671" y="2530424"/>
            <a:ext cx="3195320" cy="2049780"/>
            <a:chOff x="7032759" y="2129762"/>
            <a:chExt cx="3195320" cy="2049780"/>
          </a:xfrm>
        </p:grpSpPr>
        <p:sp>
          <p:nvSpPr>
            <p:cNvPr id="16" name="object 16"/>
            <p:cNvSpPr/>
            <p:nvPr/>
          </p:nvSpPr>
          <p:spPr>
            <a:xfrm>
              <a:off x="10208019" y="2129762"/>
              <a:ext cx="0" cy="2049780"/>
            </a:xfrm>
            <a:custGeom>
              <a:avLst/>
              <a:gdLst/>
              <a:ahLst/>
              <a:cxnLst/>
              <a:rect l="l" t="t" r="r" b="b"/>
              <a:pathLst>
                <a:path h="2049779">
                  <a:moveTo>
                    <a:pt x="0" y="20497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2759" y="4168959"/>
              <a:ext cx="3195320" cy="0"/>
            </a:xfrm>
            <a:custGeom>
              <a:avLst/>
              <a:gdLst/>
              <a:ahLst/>
              <a:cxnLst/>
              <a:rect l="l" t="t" r="r" b="b"/>
              <a:pathLst>
                <a:path w="3195320">
                  <a:moveTo>
                    <a:pt x="0" y="0"/>
                  </a:moveTo>
                  <a:lnTo>
                    <a:pt x="3194796" y="0"/>
                  </a:lnTo>
                </a:path>
              </a:pathLst>
            </a:custGeom>
            <a:ln w="3175">
              <a:solidFill>
                <a:srgbClr val="4F5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1775" y="2131264"/>
              <a:ext cx="3185795" cy="0"/>
            </a:xfrm>
            <a:custGeom>
              <a:avLst/>
              <a:gdLst/>
              <a:ahLst/>
              <a:cxnLst/>
              <a:rect l="l" t="t" r="r" b="b"/>
              <a:pathLst>
                <a:path w="3185795">
                  <a:moveTo>
                    <a:pt x="0" y="0"/>
                  </a:moveTo>
                  <a:lnTo>
                    <a:pt x="3185780" y="0"/>
                  </a:lnTo>
                </a:path>
              </a:pathLst>
            </a:custGeom>
            <a:ln w="3175">
              <a:solidFill>
                <a:srgbClr val="4F5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2130" y="394014"/>
            <a:ext cx="10603236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1" dirty="0">
                <a:solidFill>
                  <a:srgbClr val="2846D8"/>
                </a:solidFill>
                <a:latin typeface="Book Antiqua" panose="02040602050305030304" pitchFamily="18" charset="0"/>
                <a:cs typeface="Calibri"/>
              </a:rPr>
              <a:t>Empowering</a:t>
            </a:r>
            <a:r>
              <a:rPr sz="3600" b="1" spc="75" dirty="0">
                <a:solidFill>
                  <a:srgbClr val="2846D8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3600" b="1" dirty="0">
                <a:solidFill>
                  <a:srgbClr val="1136A5"/>
                </a:solidFill>
                <a:latin typeface="Book Antiqua" panose="02040602050305030304" pitchFamily="18" charset="0"/>
                <a:cs typeface="Calibri"/>
              </a:rPr>
              <a:t>Contributors:</a:t>
            </a:r>
            <a:r>
              <a:rPr sz="3600" b="1" spc="80" dirty="0">
                <a:solidFill>
                  <a:srgbClr val="1136A5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3600" b="1" dirty="0">
                <a:solidFill>
                  <a:srgbClr val="2A50CF"/>
                </a:solidFill>
                <a:latin typeface="Book Antiqua" panose="02040602050305030304" pitchFamily="18" charset="0"/>
                <a:cs typeface="Calibri"/>
              </a:rPr>
              <a:t>Secure</a:t>
            </a:r>
            <a:r>
              <a:rPr sz="3600" b="1" spc="-55" dirty="0">
                <a:solidFill>
                  <a:srgbClr val="2A50CF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3600" b="1" spc="-10" dirty="0">
                <a:solidFill>
                  <a:srgbClr val="285BE9"/>
                </a:solidFill>
                <a:latin typeface="Book Antiqua" panose="02040602050305030304" pitchFamily="18" charset="0"/>
                <a:cs typeface="Calibri"/>
              </a:rPr>
              <a:t>Support</a:t>
            </a:r>
            <a:r>
              <a:rPr sz="3600" b="1" spc="-135" dirty="0">
                <a:solidFill>
                  <a:srgbClr val="285BE9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3600" b="1" dirty="0">
                <a:solidFill>
                  <a:srgbClr val="1F4BCD"/>
                </a:solidFill>
                <a:latin typeface="Book Antiqua" panose="02040602050305030304" pitchFamily="18" charset="0"/>
                <a:cs typeface="Calibri"/>
              </a:rPr>
              <a:t>and</a:t>
            </a:r>
            <a:r>
              <a:rPr sz="3600" b="1" spc="170" dirty="0">
                <a:solidFill>
                  <a:srgbClr val="1F4BCD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lang="en-IN" sz="3600" b="1" spc="170" dirty="0">
                <a:solidFill>
                  <a:srgbClr val="1F4BCD"/>
                </a:solidFill>
                <a:latin typeface="Book Antiqua" panose="02040602050305030304" pitchFamily="18" charset="0"/>
                <a:cs typeface="Calibri"/>
              </a:rPr>
              <a:t> </a:t>
            </a:r>
            <a:br>
              <a:rPr lang="en-IN" sz="3600" b="1" spc="170" dirty="0">
                <a:solidFill>
                  <a:srgbClr val="1F4BCD"/>
                </a:solidFill>
                <a:latin typeface="Book Antiqua" panose="02040602050305030304" pitchFamily="18" charset="0"/>
                <a:cs typeface="Calibri"/>
              </a:rPr>
            </a:br>
            <a:r>
              <a:rPr lang="en-IN" sz="3600" b="1" spc="170" dirty="0">
                <a:solidFill>
                  <a:srgbClr val="1F4BCD"/>
                </a:solidFill>
                <a:latin typeface="Book Antiqua" panose="02040602050305030304" pitchFamily="18" charset="0"/>
                <a:cs typeface="Calibri"/>
              </a:rPr>
              <a:t>         </a:t>
            </a:r>
            <a:r>
              <a:rPr lang="en-IN" sz="3600" b="1" spc="-45" dirty="0">
                <a:solidFill>
                  <a:srgbClr val="234FCD"/>
                </a:solidFill>
                <a:latin typeface="Book Antiqua" panose="02040602050305030304" pitchFamily="18" charset="0"/>
                <a:cs typeface="Calibri"/>
              </a:rPr>
              <a:t>                                                P</a:t>
            </a:r>
            <a:r>
              <a:rPr sz="3600" b="1" spc="-45" dirty="0" err="1">
                <a:solidFill>
                  <a:srgbClr val="234FCD"/>
                </a:solidFill>
                <a:latin typeface="Book Antiqua" panose="02040602050305030304" pitchFamily="18" charset="0"/>
                <a:cs typeface="Calibri"/>
              </a:rPr>
              <a:t>rofile</a:t>
            </a:r>
            <a:r>
              <a:rPr sz="3600" b="1" spc="-245" dirty="0">
                <a:solidFill>
                  <a:srgbClr val="234FCD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sz="3600" b="1" spc="-10" dirty="0">
                <a:solidFill>
                  <a:srgbClr val="3B56EF"/>
                </a:solidFill>
                <a:latin typeface="Book Antiqua" panose="02040602050305030304" pitchFamily="18" charset="0"/>
                <a:cs typeface="Calibri"/>
              </a:rPr>
              <a:t>Control</a:t>
            </a:r>
            <a:endParaRPr sz="3600" b="1" dirty="0">
              <a:latin typeface="Book Antiqua" panose="02040602050305030304" pitchFamily="18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5473" y="2909199"/>
            <a:ext cx="3174365" cy="150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marR="314325" indent="8255">
              <a:lnSpc>
                <a:spcPct val="109200"/>
              </a:lnSpc>
              <a:spcBef>
                <a:spcPts val="95"/>
              </a:spcBef>
            </a:pP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Contributors</a:t>
            </a:r>
            <a:r>
              <a:rPr b="1" spc="5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financially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support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campaigns</a:t>
            </a:r>
            <a:r>
              <a:rPr b="1" spc="17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-7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monitor</a:t>
            </a:r>
            <a:r>
              <a:rPr b="1" spc="10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their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donations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overtime</a:t>
            </a:r>
            <a:r>
              <a:rPr b="1" spc="6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with</a:t>
            </a:r>
            <a:r>
              <a:rPr b="1" spc="8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clear</a:t>
            </a:r>
            <a:r>
              <a:rPr b="1" spc="2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lang="en-IN" b="1" spc="5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tra</a:t>
            </a:r>
            <a:r>
              <a:rPr b="1" spc="50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cking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4359" y="2852645"/>
            <a:ext cx="2531110" cy="1150956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Contributors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receive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regular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updates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about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campa</a:t>
            </a:r>
            <a:r>
              <a:rPr lang="en-IN" b="1" dirty="0" err="1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igns</a:t>
            </a:r>
            <a:r>
              <a:rPr b="1" spc="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they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support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3802" y="5305201"/>
            <a:ext cx="3080047" cy="1206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marR="5080" indent="-6985">
              <a:lnSpc>
                <a:spcPct val="109200"/>
              </a:lnSpc>
              <a:spcBef>
                <a:spcPts val="95"/>
              </a:spcBef>
            </a:pP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Providing</a:t>
            </a:r>
            <a:r>
              <a:rPr b="1" spc="5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transparency</a:t>
            </a:r>
            <a:r>
              <a:rPr b="1" spc="70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and</a:t>
            </a:r>
            <a:r>
              <a:rPr b="1" spc="-6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control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fosters</a:t>
            </a:r>
            <a:r>
              <a:rPr b="1" spc="4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contributor</a:t>
            </a:r>
            <a:r>
              <a:rPr b="1" spc="6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trust</a:t>
            </a:r>
            <a:r>
              <a:rPr b="1" spc="2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and</a:t>
            </a:r>
            <a:r>
              <a:rPr b="1" spc="-4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encourages continued</a:t>
            </a:r>
            <a:r>
              <a:rPr b="1" spc="15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engagement</a:t>
            </a:r>
            <a:endParaRPr b="1" dirty="0">
              <a:solidFill>
                <a:schemeClr val="tx1"/>
              </a:solidFill>
              <a:latin typeface="Book Antiqua" panose="02040602050305030304" pitchFamily="18" charset="0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32759" y="2852645"/>
            <a:ext cx="3174365" cy="8976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407034" indent="2540">
              <a:lnSpc>
                <a:spcPct val="109200"/>
              </a:lnSpc>
              <a:spcBef>
                <a:spcPts val="95"/>
              </a:spcBef>
            </a:pP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Contributors</a:t>
            </a:r>
            <a:r>
              <a:rPr b="1" spc="1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5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can</a:t>
            </a:r>
            <a:r>
              <a:rPr b="1" spc="-8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manage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their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profile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information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easily</a:t>
            </a:r>
            <a:r>
              <a:rPr b="1" spc="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securely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12029D-A90E-6182-8CB3-048036B2BBAE}"/>
              </a:ext>
            </a:extLst>
          </p:cNvPr>
          <p:cNvSpPr txBox="1"/>
          <p:nvPr/>
        </p:nvSpPr>
        <p:spPr>
          <a:xfrm>
            <a:off x="271936" y="1506087"/>
            <a:ext cx="9799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sto MT" panose="02040603050505030304" pitchFamily="18" charset="0"/>
              </a:rPr>
              <a:t>Ensure transparent transactions, donation tracking, and seamless profile management to build trust and encourage ongoing support.</a:t>
            </a:r>
            <a:endParaRPr lang="en-IN" sz="2400" dirty="0">
              <a:latin typeface="Calisto MT" panose="0204060305050503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960090-1CB8-263E-3F3C-B2EB3F3017E1}"/>
              </a:ext>
            </a:extLst>
          </p:cNvPr>
          <p:cNvSpPr txBox="1"/>
          <p:nvPr/>
        </p:nvSpPr>
        <p:spPr>
          <a:xfrm>
            <a:off x="555473" y="5140501"/>
            <a:ext cx="2666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Developers must ensure secure transaction handling to protect contributor data and payments</a:t>
            </a:r>
            <a:endParaRPr lang="en-IN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4852" y="4758803"/>
            <a:ext cx="528268" cy="4842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1835" y="4758803"/>
            <a:ext cx="637498" cy="585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666" y="2849399"/>
            <a:ext cx="589763" cy="4993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6188" y="2870772"/>
            <a:ext cx="736932" cy="4993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7276" y="2779656"/>
            <a:ext cx="736932" cy="6753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8821" y="1269310"/>
            <a:ext cx="594578" cy="4324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 flipV="1">
            <a:off x="393700" y="4687605"/>
            <a:ext cx="693598" cy="63844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0" y="450133"/>
            <a:ext cx="108458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5"/>
              </a:spcBef>
            </a:pPr>
            <a:r>
              <a:rPr sz="3600" b="1" spc="-75" dirty="0" err="1">
                <a:solidFill>
                  <a:srgbClr val="133FC3"/>
                </a:solidFill>
                <a:latin typeface="Calisto MT" panose="02040603050505030304" pitchFamily="18" charset="0"/>
              </a:rPr>
              <a:t>Essenti</a:t>
            </a:r>
            <a:r>
              <a:rPr lang="en-IN" sz="3600" b="1" spc="-75" dirty="0">
                <a:solidFill>
                  <a:srgbClr val="133FC3"/>
                </a:solidFill>
                <a:latin typeface="Calisto MT" panose="02040603050505030304" pitchFamily="18" charset="0"/>
              </a:rPr>
              <a:t>a</a:t>
            </a:r>
            <a:r>
              <a:rPr sz="3600" b="1" spc="-75" dirty="0">
                <a:solidFill>
                  <a:srgbClr val="133FC3"/>
                </a:solidFill>
                <a:latin typeface="Calisto MT" panose="02040603050505030304" pitchFamily="18" charset="0"/>
              </a:rPr>
              <a:t>l</a:t>
            </a:r>
            <a:r>
              <a:rPr sz="3600" b="1" spc="-100" dirty="0">
                <a:solidFill>
                  <a:srgbClr val="133FC3"/>
                </a:solidFill>
                <a:latin typeface="Calisto MT" panose="02040603050505030304" pitchFamily="18" charset="0"/>
              </a:rPr>
              <a:t> </a:t>
            </a:r>
            <a:r>
              <a:rPr sz="3600" b="1" spc="-25" dirty="0">
                <a:solidFill>
                  <a:srgbClr val="244FCF"/>
                </a:solidFill>
                <a:latin typeface="Calisto MT" panose="02040603050505030304" pitchFamily="18" charset="0"/>
              </a:rPr>
              <a:t>D</a:t>
            </a:r>
            <a:r>
              <a:rPr lang="en-IN" sz="3600" b="1" spc="-25" dirty="0">
                <a:solidFill>
                  <a:srgbClr val="244FCF"/>
                </a:solidFill>
                <a:latin typeface="Calisto MT" panose="02040603050505030304" pitchFamily="18" charset="0"/>
              </a:rPr>
              <a:t>a</a:t>
            </a:r>
            <a:r>
              <a:rPr sz="3600" b="1" spc="-25" dirty="0" err="1">
                <a:solidFill>
                  <a:srgbClr val="244FCF"/>
                </a:solidFill>
                <a:latin typeface="Calisto MT" panose="02040603050505030304" pitchFamily="18" charset="0"/>
              </a:rPr>
              <a:t>shbo</a:t>
            </a:r>
            <a:r>
              <a:rPr lang="en-IN" sz="3600" b="1" spc="-25" dirty="0">
                <a:solidFill>
                  <a:srgbClr val="244FCF"/>
                </a:solidFill>
                <a:latin typeface="Calisto MT" panose="02040603050505030304" pitchFamily="18" charset="0"/>
              </a:rPr>
              <a:t>a</a:t>
            </a:r>
            <a:r>
              <a:rPr sz="3600" b="1" spc="-25" dirty="0" err="1">
                <a:solidFill>
                  <a:srgbClr val="244FCF"/>
                </a:solidFill>
                <a:latin typeface="Calisto MT" panose="02040603050505030304" pitchFamily="18" charset="0"/>
              </a:rPr>
              <a:t>rd</a:t>
            </a:r>
            <a:r>
              <a:rPr sz="3600" b="1" spc="-75" dirty="0">
                <a:solidFill>
                  <a:srgbClr val="244FCF"/>
                </a:solidFill>
                <a:latin typeface="Calisto MT" panose="02040603050505030304" pitchFamily="18" charset="0"/>
              </a:rPr>
              <a:t> </a:t>
            </a:r>
            <a:r>
              <a:rPr sz="3600" b="1" spc="-50" dirty="0">
                <a:solidFill>
                  <a:srgbClr val="1359E6"/>
                </a:solidFill>
                <a:latin typeface="Calisto MT" panose="02040603050505030304" pitchFamily="18" charset="0"/>
              </a:rPr>
              <a:t>Fe</a:t>
            </a:r>
            <a:r>
              <a:rPr lang="en-IN" sz="3600" b="1" spc="-50" dirty="0">
                <a:solidFill>
                  <a:srgbClr val="1359E6"/>
                </a:solidFill>
                <a:latin typeface="Calisto MT" panose="02040603050505030304" pitchFamily="18" charset="0"/>
              </a:rPr>
              <a:t>a</a:t>
            </a:r>
            <a:r>
              <a:rPr sz="3600" b="1" spc="-50" dirty="0" err="1">
                <a:solidFill>
                  <a:srgbClr val="1359E6"/>
                </a:solidFill>
                <a:latin typeface="Calisto MT" panose="02040603050505030304" pitchFamily="18" charset="0"/>
              </a:rPr>
              <a:t>tures</a:t>
            </a:r>
            <a:r>
              <a:rPr sz="3600" b="1" spc="5" dirty="0">
                <a:solidFill>
                  <a:srgbClr val="1359E6"/>
                </a:solidFill>
                <a:latin typeface="Calisto MT" panose="02040603050505030304" pitchFamily="18" charset="0"/>
              </a:rPr>
              <a:t> </a:t>
            </a:r>
            <a:r>
              <a:rPr sz="3600" b="1" spc="-35" dirty="0">
                <a:solidFill>
                  <a:srgbClr val="165DC4"/>
                </a:solidFill>
                <a:latin typeface="Calisto MT" panose="02040603050505030304" pitchFamily="18" charset="0"/>
              </a:rPr>
              <a:t>for</a:t>
            </a:r>
            <a:r>
              <a:rPr sz="3600" b="1" spc="-80" dirty="0">
                <a:solidFill>
                  <a:srgbClr val="165DC4"/>
                </a:solidFill>
                <a:latin typeface="Calisto MT" panose="02040603050505030304" pitchFamily="18" charset="0"/>
              </a:rPr>
              <a:t> </a:t>
            </a:r>
            <a:r>
              <a:rPr sz="3600" b="1" dirty="0">
                <a:solidFill>
                  <a:srgbClr val="283FE2"/>
                </a:solidFill>
                <a:latin typeface="Calisto MT" panose="02040603050505030304" pitchFamily="18" charset="0"/>
              </a:rPr>
              <a:t>C</a:t>
            </a:r>
            <a:r>
              <a:rPr lang="en-IN" sz="3600" b="1" dirty="0">
                <a:solidFill>
                  <a:srgbClr val="283FE2"/>
                </a:solidFill>
                <a:latin typeface="Calisto MT" panose="02040603050505030304" pitchFamily="18" charset="0"/>
              </a:rPr>
              <a:t>a</a:t>
            </a:r>
            <a:r>
              <a:rPr sz="3600" b="1" dirty="0" err="1">
                <a:solidFill>
                  <a:srgbClr val="283FE2"/>
                </a:solidFill>
                <a:latin typeface="Calisto MT" panose="02040603050505030304" pitchFamily="18" charset="0"/>
              </a:rPr>
              <a:t>mp</a:t>
            </a:r>
            <a:r>
              <a:rPr lang="en-IN" sz="3600" b="1" dirty="0">
                <a:solidFill>
                  <a:srgbClr val="283FE2"/>
                </a:solidFill>
                <a:latin typeface="Calisto MT" panose="02040603050505030304" pitchFamily="18" charset="0"/>
              </a:rPr>
              <a:t>a</a:t>
            </a:r>
            <a:r>
              <a:rPr sz="3600" b="1" dirty="0" err="1">
                <a:solidFill>
                  <a:srgbClr val="283FE2"/>
                </a:solidFill>
                <a:latin typeface="Calisto MT" panose="02040603050505030304" pitchFamily="18" charset="0"/>
              </a:rPr>
              <a:t>i</a:t>
            </a:r>
            <a:r>
              <a:rPr lang="en-IN" sz="3600" b="1" dirty="0" err="1">
                <a:solidFill>
                  <a:srgbClr val="283FE2"/>
                </a:solidFill>
                <a:latin typeface="Calisto MT" panose="02040603050505030304" pitchFamily="18" charset="0"/>
              </a:rPr>
              <a:t>ngs</a:t>
            </a:r>
            <a:r>
              <a:rPr sz="3600" b="1" spc="-160" dirty="0">
                <a:solidFill>
                  <a:srgbClr val="283FE2"/>
                </a:solidFill>
                <a:latin typeface="Calisto MT" panose="02040603050505030304" pitchFamily="18" charset="0"/>
              </a:rPr>
              <a:t> </a:t>
            </a:r>
            <a:r>
              <a:rPr sz="3600" b="1" spc="-10" dirty="0">
                <a:solidFill>
                  <a:srgbClr val="1D44CA"/>
                </a:solidFill>
                <a:latin typeface="Calisto MT" panose="02040603050505030304" pitchFamily="18" charset="0"/>
              </a:rPr>
              <a:t>Cre</a:t>
            </a:r>
            <a:r>
              <a:rPr lang="en-IN" sz="3600" b="1" spc="-10" dirty="0">
                <a:solidFill>
                  <a:srgbClr val="1D44CA"/>
                </a:solidFill>
                <a:latin typeface="Calisto MT" panose="02040603050505030304" pitchFamily="18" charset="0"/>
              </a:rPr>
              <a:t>a</a:t>
            </a:r>
            <a:r>
              <a:rPr sz="3600" b="1" spc="-10" dirty="0">
                <a:solidFill>
                  <a:srgbClr val="1D44CA"/>
                </a:solidFill>
                <a:latin typeface="Calisto MT" panose="02040603050505030304" pitchFamily="18" charset="0"/>
              </a:rPr>
              <a:t>tors</a:t>
            </a:r>
            <a:endParaRPr sz="3600" b="1" dirty="0">
              <a:latin typeface="Calisto MT" panose="0204060305050503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0" y="3588384"/>
            <a:ext cx="3594100" cy="638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" marR="5080" indent="-11430">
              <a:lnSpc>
                <a:spcPct val="118200"/>
              </a:lnSpc>
              <a:spcBef>
                <a:spcPts val="90"/>
              </a:spcBef>
            </a:pP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Summary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views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of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active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campaigns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</a:t>
            </a:r>
            <a:r>
              <a:rPr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quick </a:t>
            </a:r>
            <a:r>
              <a:rPr b="1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statu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checks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27" y="5560692"/>
            <a:ext cx="3470158" cy="6046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Real-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time</a:t>
            </a:r>
            <a:r>
              <a:rPr b="1" spc="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updates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b="1" spc="-9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enable</a:t>
            </a:r>
            <a:r>
              <a:rPr b="1" spc="-8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timely decision-making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3393" y="3666710"/>
            <a:ext cx="3017520" cy="6144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445">
              <a:lnSpc>
                <a:spcPct val="112900"/>
              </a:lnSpc>
              <a:spcBef>
                <a:spcPts val="90"/>
              </a:spcBef>
            </a:pP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Visual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fundraising</a:t>
            </a: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progress</a:t>
            </a:r>
            <a:r>
              <a:rPr b="1" spc="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with</a:t>
            </a: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progress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bars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chart</a:t>
            </a:r>
            <a:r>
              <a:rPr lang="en-IN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23241" y="3592649"/>
            <a:ext cx="3282251" cy="6142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4" marR="5080" indent="-2540">
              <a:lnSpc>
                <a:spcPct val="112900"/>
              </a:lnSpc>
              <a:spcBef>
                <a:spcPts val="90"/>
              </a:spcBef>
            </a:pP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Contributor</a:t>
            </a:r>
            <a:r>
              <a:rPr b="1" spc="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engagement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metrics</a:t>
            </a: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b="1" spc="-7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track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supporter activity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0940" y="5528932"/>
            <a:ext cx="3346336" cy="589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40">
              <a:lnSpc>
                <a:spcPct val="108400"/>
              </a:lnSpc>
              <a:spcBef>
                <a:spcPts val="90"/>
              </a:spcBef>
            </a:pP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Interactive</a:t>
            </a:r>
            <a:r>
              <a:rPr b="1" spc="2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charts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and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notification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systems</a:t>
            </a:r>
            <a:r>
              <a:rPr b="1" spc="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for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enhanced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usability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56652" y="5507805"/>
            <a:ext cx="3011170" cy="589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810">
              <a:lnSpc>
                <a:spcPct val="108400"/>
              </a:lnSpc>
              <a:spcBef>
                <a:spcPts val="90"/>
              </a:spcBef>
            </a:pP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Analytics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tools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to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help</a:t>
            </a:r>
            <a:r>
              <a:rPr b="1" spc="1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creators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adjust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Calibri"/>
              </a:rPr>
              <a:t>strategies effectively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B010B-BCEA-8A30-786E-11FA7A4C4F9A}"/>
              </a:ext>
            </a:extLst>
          </p:cNvPr>
          <p:cNvSpPr txBox="1"/>
          <p:nvPr/>
        </p:nvSpPr>
        <p:spPr>
          <a:xfrm>
            <a:off x="88900" y="1582862"/>
            <a:ext cx="968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Empower creators with real-time insights and interactive tools to maximize campaign success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92" y="5052871"/>
            <a:ext cx="639889" cy="5643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3819" y="5013785"/>
            <a:ext cx="639888" cy="630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92184" y="3175702"/>
            <a:ext cx="659489" cy="5637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5866" y="998872"/>
            <a:ext cx="577533" cy="6948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 flipH="1">
            <a:off x="165098" y="3184539"/>
            <a:ext cx="45719" cy="554870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245"/>
                </a:moveTo>
                <a:lnTo>
                  <a:pt x="0" y="0"/>
                </a:lnTo>
              </a:path>
            </a:pathLst>
          </a:custGeom>
          <a:ln w="9023">
            <a:solidFill>
              <a:srgbClr val="384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87959" y="3173864"/>
            <a:ext cx="543935" cy="555076"/>
            <a:chOff x="412094" y="3636877"/>
            <a:chExt cx="469265" cy="469265"/>
          </a:xfrm>
        </p:grpSpPr>
        <p:sp>
          <p:nvSpPr>
            <p:cNvPr id="8" name="object 8"/>
            <p:cNvSpPr/>
            <p:nvPr/>
          </p:nvSpPr>
          <p:spPr>
            <a:xfrm>
              <a:off x="876828" y="3636877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9245"/>
                  </a:moveTo>
                  <a:lnTo>
                    <a:pt x="0" y="0"/>
                  </a:lnTo>
                </a:path>
              </a:pathLst>
            </a:custGeom>
            <a:ln w="9023">
              <a:solidFill>
                <a:srgbClr val="384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2094" y="3641389"/>
              <a:ext cx="469265" cy="0"/>
            </a:xfrm>
            <a:custGeom>
              <a:avLst/>
              <a:gdLst/>
              <a:ahLst/>
              <a:cxnLst/>
              <a:rect l="l" t="t" r="r" b="b"/>
              <a:pathLst>
                <a:path w="469265">
                  <a:moveTo>
                    <a:pt x="0" y="0"/>
                  </a:moveTo>
                  <a:lnTo>
                    <a:pt x="469246" y="0"/>
                  </a:lnTo>
                </a:path>
              </a:pathLst>
            </a:custGeom>
            <a:ln w="9023">
              <a:solidFill>
                <a:srgbClr val="384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2094" y="4101610"/>
              <a:ext cx="469265" cy="0"/>
            </a:xfrm>
            <a:custGeom>
              <a:avLst/>
              <a:gdLst/>
              <a:ahLst/>
              <a:cxnLst/>
              <a:rect l="l" t="t" r="r" b="b"/>
              <a:pathLst>
                <a:path w="469265">
                  <a:moveTo>
                    <a:pt x="0" y="0"/>
                  </a:moveTo>
                  <a:lnTo>
                    <a:pt x="469246" y="0"/>
                  </a:lnTo>
                </a:path>
              </a:pathLst>
            </a:custGeom>
            <a:ln w="9023">
              <a:solidFill>
                <a:srgbClr val="384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 flipV="1">
            <a:off x="317500" y="1534731"/>
            <a:ext cx="9798366" cy="45719"/>
          </a:xfrm>
          <a:custGeom>
            <a:avLst/>
            <a:gdLst/>
            <a:ahLst/>
            <a:cxnLst/>
            <a:rect l="l" t="t" r="r" b="b"/>
            <a:pathLst>
              <a:path w="8846820">
                <a:moveTo>
                  <a:pt x="0" y="0"/>
                </a:moveTo>
                <a:lnTo>
                  <a:pt x="8846495" y="0"/>
                </a:lnTo>
              </a:path>
            </a:pathLst>
          </a:custGeom>
          <a:ln w="3175">
            <a:solidFill>
              <a:srgbClr val="5B74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 flipV="1">
            <a:off x="317500" y="695650"/>
            <a:ext cx="9798366" cy="106785"/>
          </a:xfrm>
          <a:custGeom>
            <a:avLst/>
            <a:gdLst/>
            <a:ahLst/>
            <a:cxnLst/>
            <a:rect l="l" t="t" r="r" b="b"/>
            <a:pathLst>
              <a:path w="8846820">
                <a:moveTo>
                  <a:pt x="0" y="0"/>
                </a:moveTo>
                <a:lnTo>
                  <a:pt x="8846495" y="0"/>
                </a:lnTo>
              </a:path>
            </a:pathLst>
          </a:custGeom>
          <a:ln w="3175">
            <a:solidFill>
              <a:srgbClr val="646B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83400" y="3163855"/>
            <a:ext cx="543935" cy="565085"/>
            <a:chOff x="514366" y="3688012"/>
            <a:chExt cx="316230" cy="3162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366" y="3688012"/>
              <a:ext cx="315838" cy="3158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66" y="3688012"/>
              <a:ext cx="315838" cy="31583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317092" y="3163857"/>
            <a:ext cx="603372" cy="564385"/>
            <a:chOff x="3790065" y="3579724"/>
            <a:chExt cx="487680" cy="514984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80305" y="3697037"/>
              <a:ext cx="397054" cy="28876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0065" y="3579724"/>
              <a:ext cx="487294" cy="514365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992184" y="4906174"/>
            <a:ext cx="659489" cy="658207"/>
            <a:chOff x="7165028" y="4437001"/>
            <a:chExt cx="487680" cy="505459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5028" y="4437001"/>
              <a:ext cx="487294" cy="5053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5028" y="4437001"/>
              <a:ext cx="487294" cy="505341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17500" y="883724"/>
            <a:ext cx="1069375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110"/>
              </a:spcBef>
            </a:pPr>
            <a:r>
              <a:rPr lang="en-IN" sz="3200" b="1" spc="50" dirty="0">
                <a:solidFill>
                  <a:srgbClr val="2A46C3"/>
                </a:solidFill>
                <a:latin typeface="Book Antiqua" panose="02040602050305030304" pitchFamily="18" charset="0"/>
              </a:rPr>
              <a:t>Empowering C</a:t>
            </a:r>
            <a:r>
              <a:rPr sz="3200" b="1" dirty="0" err="1">
                <a:solidFill>
                  <a:srgbClr val="2A46C3"/>
                </a:solidFill>
                <a:latin typeface="Book Antiqua" panose="02040602050305030304" pitchFamily="18" charset="0"/>
              </a:rPr>
              <a:t>ontributors</a:t>
            </a:r>
            <a:r>
              <a:rPr sz="3200" b="1" spc="120" dirty="0">
                <a:solidFill>
                  <a:srgbClr val="2A46C3"/>
                </a:solidFill>
                <a:latin typeface="Book Antiqua" panose="02040602050305030304" pitchFamily="18" charset="0"/>
              </a:rPr>
              <a:t> </a:t>
            </a:r>
            <a:r>
              <a:rPr sz="3200" b="1" spc="90" dirty="0">
                <a:solidFill>
                  <a:srgbClr val="364FC4"/>
                </a:solidFill>
                <a:latin typeface="Book Antiqua" panose="02040602050305030304" pitchFamily="18" charset="0"/>
              </a:rPr>
              <a:t>with</a:t>
            </a:r>
            <a:r>
              <a:rPr sz="3200" b="1" spc="-315" dirty="0">
                <a:solidFill>
                  <a:srgbClr val="364FC4"/>
                </a:solidFill>
                <a:latin typeface="Book Antiqua" panose="02040602050305030304" pitchFamily="18" charset="0"/>
              </a:rPr>
              <a:t> </a:t>
            </a:r>
            <a:r>
              <a:rPr sz="3200" b="1" spc="-120" dirty="0" err="1">
                <a:solidFill>
                  <a:srgbClr val="1C4DCF"/>
                </a:solidFill>
                <a:latin typeface="Book Antiqua" panose="02040602050305030304" pitchFamily="18" charset="0"/>
              </a:rPr>
              <a:t>lntui</a:t>
            </a:r>
            <a:r>
              <a:rPr lang="en-IN" sz="3200" b="1" spc="-120" dirty="0" err="1">
                <a:solidFill>
                  <a:srgbClr val="1C4DCF"/>
                </a:solidFill>
                <a:latin typeface="Book Antiqua" panose="02040602050305030304" pitchFamily="18" charset="0"/>
              </a:rPr>
              <a:t>tive</a:t>
            </a:r>
            <a:r>
              <a:rPr lang="en-IN" sz="3200" b="1" spc="-225" dirty="0">
                <a:solidFill>
                  <a:srgbClr val="1C4DCF"/>
                </a:solidFill>
                <a:latin typeface="Book Antiqua" panose="02040602050305030304" pitchFamily="18" charset="0"/>
              </a:rPr>
              <a:t> </a:t>
            </a:r>
            <a:r>
              <a:rPr sz="3200" b="1" spc="-10" dirty="0">
                <a:solidFill>
                  <a:srgbClr val="284DDD"/>
                </a:solidFill>
                <a:latin typeface="Book Antiqua" panose="02040602050305030304" pitchFamily="18" charset="0"/>
              </a:rPr>
              <a:t>D</a:t>
            </a:r>
            <a:r>
              <a:rPr lang="en-IN" sz="3200" b="1" spc="-10" dirty="0">
                <a:solidFill>
                  <a:srgbClr val="284DDD"/>
                </a:solidFill>
                <a:latin typeface="Book Antiqua" panose="02040602050305030304" pitchFamily="18" charset="0"/>
              </a:rPr>
              <a:t>a</a:t>
            </a:r>
            <a:r>
              <a:rPr sz="3200" b="1" spc="-10" dirty="0" err="1">
                <a:solidFill>
                  <a:srgbClr val="284DDD"/>
                </a:solidFill>
                <a:latin typeface="Book Antiqua" panose="02040602050305030304" pitchFamily="18" charset="0"/>
              </a:rPr>
              <a:t>shbo</a:t>
            </a:r>
            <a:r>
              <a:rPr lang="en-IN" sz="3200" b="1" spc="-10" dirty="0">
                <a:solidFill>
                  <a:srgbClr val="284DDD"/>
                </a:solidFill>
                <a:latin typeface="Book Antiqua" panose="02040602050305030304" pitchFamily="18" charset="0"/>
              </a:rPr>
              <a:t>a</a:t>
            </a:r>
            <a:r>
              <a:rPr sz="3200" b="1" spc="-10" dirty="0" err="1">
                <a:solidFill>
                  <a:srgbClr val="284DDD"/>
                </a:solidFill>
                <a:latin typeface="Book Antiqua" panose="02040602050305030304" pitchFamily="18" charset="0"/>
              </a:rPr>
              <a:t>rds</a:t>
            </a:r>
            <a:endParaRPr sz="3200" b="1" dirty="0">
              <a:latin typeface="Book Antiqua" panose="02040602050305030304" pitchFamily="18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93974" y="1164897"/>
            <a:ext cx="64769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495" dirty="0">
                <a:solidFill>
                  <a:srgbClr val="C1C1C1"/>
                </a:solidFill>
                <a:latin typeface="Arial MT"/>
                <a:cs typeface="Arial MT"/>
              </a:rPr>
              <a:t>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4635" y="2124538"/>
            <a:ext cx="8802527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spc="-1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Key</a:t>
            </a:r>
            <a:r>
              <a:rPr sz="24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95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featur</a:t>
            </a:r>
            <a:r>
              <a:rPr lang="en-IN" sz="2400" b="1" spc="-9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es</a:t>
            </a:r>
            <a:r>
              <a:rPr sz="2400"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95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</a:t>
            </a:r>
            <a:r>
              <a:rPr lang="en-IN" sz="2400" b="1" spc="-9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h</a:t>
            </a:r>
            <a:r>
              <a:rPr sz="2400" b="1" spc="-95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ance</a:t>
            </a:r>
            <a:r>
              <a:rPr sz="24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9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transparency,</a:t>
            </a:r>
            <a:r>
              <a:rPr sz="2400" b="1" spc="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110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engagemen</a:t>
            </a:r>
            <a:r>
              <a:rPr lang="en-IN" sz="2400" b="1" spc="-1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</a:t>
            </a:r>
            <a:r>
              <a:rPr sz="2400" b="1" spc="10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1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2400" b="1" spc="-8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profile</a:t>
            </a:r>
            <a:r>
              <a:rPr sz="24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control</a:t>
            </a:r>
            <a:endParaRPr sz="24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117" y="3769477"/>
            <a:ext cx="2717805" cy="8483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Clear summaries of past and current contributors to track impact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4363" y="5805167"/>
            <a:ext cx="3301010" cy="965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marR="5715" indent="-1905">
              <a:lnSpc>
                <a:spcPct val="118400"/>
              </a:lnSpc>
              <a:spcBef>
                <a:spcPts val="90"/>
              </a:spcBef>
            </a:pPr>
            <a:r>
              <a:rPr b="1" spc="-45" dirty="0">
                <a:solidFill>
                  <a:srgbClr val="030303"/>
                </a:solidFill>
                <a:latin typeface="Calisto MT" panose="02040603050505030304" pitchFamily="18" charset="0"/>
                <a:cs typeface="Arial MT"/>
              </a:rPr>
              <a:t>User-</a:t>
            </a:r>
            <a:r>
              <a:rPr b="1" spc="-30" dirty="0">
                <a:solidFill>
                  <a:srgbClr val="030303"/>
                </a:solidFill>
                <a:latin typeface="Calisto MT" panose="02040603050505030304" pitchFamily="18" charset="0"/>
                <a:cs typeface="Arial MT"/>
              </a:rPr>
              <a:t>friendly</a:t>
            </a:r>
            <a:r>
              <a:rPr b="1" spc="5" dirty="0">
                <a:solidFill>
                  <a:srgbClr val="030303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0" dirty="0">
                <a:solidFill>
                  <a:srgbClr val="151515"/>
                </a:solidFill>
                <a:latin typeface="Calisto MT" panose="02040603050505030304" pitchFamily="18" charset="0"/>
                <a:cs typeface="Arial MT"/>
              </a:rPr>
              <a:t>deaign</a:t>
            </a:r>
            <a:r>
              <a:rPr b="1" spc="-65" dirty="0">
                <a:solidFill>
                  <a:srgbClr val="151515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0" dirty="0">
                <a:solidFill>
                  <a:srgbClr val="0C0C0C"/>
                </a:solidFill>
                <a:latin typeface="Calisto MT" panose="02040603050505030304" pitchFamily="18" charset="0"/>
                <a:cs typeface="Arial MT"/>
              </a:rPr>
              <a:t>ensuring</a:t>
            </a:r>
            <a:r>
              <a:rPr b="1" spc="30" dirty="0">
                <a:solidFill>
                  <a:srgbClr val="0C0C0C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0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eaey </a:t>
            </a:r>
            <a:r>
              <a:rPr b="1" spc="-25" dirty="0">
                <a:latin typeface="Calisto MT" panose="02040603050505030304" pitchFamily="18" charset="0"/>
                <a:cs typeface="Arial MT"/>
              </a:rPr>
              <a:t>navigation</a:t>
            </a:r>
            <a:r>
              <a:rPr b="1" spc="-1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35" dirty="0">
                <a:solidFill>
                  <a:srgbClr val="151515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145" dirty="0">
                <a:solidFill>
                  <a:srgbClr val="151515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latin typeface="Calisto MT" panose="02040603050505030304" pitchFamily="18" charset="0"/>
                <a:cs typeface="Arial MT"/>
              </a:rPr>
              <a:t>tinmly </a:t>
            </a:r>
            <a:r>
              <a:rPr b="1" spc="-20" dirty="0">
                <a:latin typeface="Calisto MT" panose="02040603050505030304" pitchFamily="18" charset="0"/>
                <a:cs typeface="Arial MT"/>
              </a:rPr>
              <a:t>data</a:t>
            </a:r>
            <a:r>
              <a:rPr b="1" spc="-9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latin typeface="Calisto MT" panose="02040603050505030304" pitchFamily="18" charset="0"/>
                <a:cs typeface="Arial MT"/>
              </a:rPr>
              <a:t>updates</a:t>
            </a:r>
            <a:endParaRPr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8215" y="5777115"/>
            <a:ext cx="3565184" cy="10216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970" marR="5080" indent="-1905">
              <a:lnSpc>
                <a:spcPct val="126299"/>
              </a:lnSpc>
              <a:spcBef>
                <a:spcPts val="55"/>
              </a:spcBef>
            </a:pPr>
            <a:r>
              <a:rPr lang="en-US" b="1" dirty="0">
                <a:latin typeface="Calisto MT" panose="02040603050505030304" pitchFamily="18" charset="0"/>
              </a:rPr>
              <a:t>Overall, dashboards maintain contributor satisfaction and loyalty through clarity and responsiveness</a:t>
            </a:r>
            <a:endParaRPr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8670F4-2979-D970-2265-4BFE1B08C5BA}"/>
              </a:ext>
            </a:extLst>
          </p:cNvPr>
          <p:cNvSpPr txBox="1"/>
          <p:nvPr/>
        </p:nvSpPr>
        <p:spPr>
          <a:xfrm>
            <a:off x="3913707" y="3768078"/>
            <a:ext cx="292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Updates and notifications from supported campaigns for timely engagement.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BFAB7E-A85C-C786-EA7D-18B8D4A75E24}"/>
              </a:ext>
            </a:extLst>
          </p:cNvPr>
          <p:cNvSpPr txBox="1"/>
          <p:nvPr/>
        </p:nvSpPr>
        <p:spPr>
          <a:xfrm>
            <a:off x="7634517" y="3668449"/>
            <a:ext cx="3159069" cy="941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Visualizations like contribution history charts to enhance transparency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D265A8-AA47-C98C-54D3-BF74EE0E3B6B}"/>
              </a:ext>
            </a:extLst>
          </p:cNvPr>
          <p:cNvSpPr txBox="1"/>
          <p:nvPr/>
        </p:nvSpPr>
        <p:spPr>
          <a:xfrm>
            <a:off x="296616" y="5826294"/>
            <a:ext cx="3263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Profile management options for contributors to control personal information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21" y="7202153"/>
            <a:ext cx="10693400" cy="90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00" y="5446166"/>
            <a:ext cx="533400" cy="4265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92" y="3923373"/>
            <a:ext cx="10167008" cy="1540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92" y="2206613"/>
            <a:ext cx="508327" cy="360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65707" y="2191477"/>
            <a:ext cx="508328" cy="334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30549"/>
            <a:ext cx="10693400" cy="90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98821" y="1273813"/>
            <a:ext cx="594578" cy="4324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92498" y="2135256"/>
            <a:ext cx="508328" cy="35786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rcRect l="83118" t="27045" r="1"/>
          <a:stretch>
            <a:fillRect/>
          </a:stretch>
        </p:blipFill>
        <p:spPr>
          <a:xfrm>
            <a:off x="4724288" y="5568494"/>
            <a:ext cx="819260" cy="76451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145" y="365224"/>
            <a:ext cx="1069339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800" b="1" dirty="0">
                <a:solidFill>
                  <a:srgbClr val="2B66D4"/>
                </a:solidFill>
                <a:latin typeface="Book Antiqua" panose="02040602050305030304" pitchFamily="18" charset="0"/>
              </a:rPr>
              <a:t>Streamlining</a:t>
            </a:r>
            <a:r>
              <a:rPr lang="en-US" sz="2800" b="1" spc="-40" dirty="0">
                <a:solidFill>
                  <a:srgbClr val="2B66D4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spc="-135" dirty="0">
                <a:solidFill>
                  <a:srgbClr val="2B4FC1"/>
                </a:solidFill>
                <a:latin typeface="Book Antiqua" panose="02040602050305030304" pitchFamily="18" charset="0"/>
              </a:rPr>
              <a:t>User</a:t>
            </a:r>
            <a:r>
              <a:rPr lang="en-US" sz="2800" b="1" spc="-30" dirty="0">
                <a:solidFill>
                  <a:srgbClr val="2B4FC1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spc="-25" dirty="0">
                <a:solidFill>
                  <a:srgbClr val="1C4DEB"/>
                </a:solidFill>
                <a:latin typeface="Book Antiqua" panose="02040602050305030304" pitchFamily="18" charset="0"/>
              </a:rPr>
              <a:t>Actions</a:t>
            </a:r>
            <a:r>
              <a:rPr lang="en-US" sz="2800" b="1" spc="-114" dirty="0">
                <a:solidFill>
                  <a:srgbClr val="1C4DEB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spc="-40" dirty="0">
                <a:solidFill>
                  <a:srgbClr val="243FD4"/>
                </a:solidFill>
                <a:latin typeface="Book Antiqua" panose="02040602050305030304" pitchFamily="18" charset="0"/>
              </a:rPr>
              <a:t>Through</a:t>
            </a:r>
            <a:r>
              <a:rPr lang="en-US" sz="2800" b="1" spc="-250" dirty="0">
                <a:solidFill>
                  <a:srgbClr val="243FD4"/>
                </a:solidFill>
                <a:latin typeface="Book Antiqua" panose="02040602050305030304" pitchFamily="18" charset="0"/>
              </a:rPr>
              <a:t>   </a:t>
            </a:r>
            <a:r>
              <a:rPr lang="en-US" sz="2800" b="1" spc="-85" dirty="0">
                <a:solidFill>
                  <a:srgbClr val="1F4DDD"/>
                </a:solidFill>
                <a:latin typeface="Book Antiqua" panose="02040602050305030304" pitchFamily="18" charset="0"/>
              </a:rPr>
              <a:t>Precise</a:t>
            </a:r>
            <a:r>
              <a:rPr lang="en-US" sz="2800" b="1" spc="-245" dirty="0">
                <a:solidFill>
                  <a:srgbClr val="1F4DDD"/>
                </a:solidFill>
                <a:latin typeface="Book Antiqua" panose="02040602050305030304" pitchFamily="18" charset="0"/>
              </a:rPr>
              <a:t>   </a:t>
            </a:r>
            <a:r>
              <a:rPr lang="en-US" sz="2800" b="1" dirty="0">
                <a:solidFill>
                  <a:srgbClr val="234FCC"/>
                </a:solidFill>
                <a:latin typeface="Book Antiqua" panose="02040602050305030304" pitchFamily="18" charset="0"/>
              </a:rPr>
              <a:t>Inputs</a:t>
            </a:r>
            <a:r>
              <a:rPr lang="en-US" sz="2800" b="1" spc="-135" dirty="0">
                <a:solidFill>
                  <a:srgbClr val="234FCC"/>
                </a:solidFill>
                <a:latin typeface="Book Antiqua" panose="02040602050305030304" pitchFamily="18" charset="0"/>
              </a:rPr>
              <a:t>  </a:t>
            </a:r>
            <a:r>
              <a:rPr lang="en-US" sz="2800" b="1" spc="50" dirty="0">
                <a:solidFill>
                  <a:srgbClr val="2644CC"/>
                </a:solidFill>
                <a:latin typeface="Book Antiqua" panose="02040602050305030304" pitchFamily="18" charset="0"/>
              </a:rPr>
              <a:t>and Outputs</a:t>
            </a:r>
            <a:endParaRPr 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741" y="1237537"/>
            <a:ext cx="10299699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Mapping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key</a:t>
            </a:r>
            <a:r>
              <a:rPr b="1" spc="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steps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ensures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data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integrity</a:t>
            </a:r>
            <a:r>
              <a:rPr b="1" spc="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immediate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user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feedback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across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</a:t>
            </a:r>
            <a:r>
              <a:rPr lang="en-IN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l</a:t>
            </a:r>
            <a:r>
              <a:rPr b="1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atform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workflows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6256" y="2641407"/>
            <a:ext cx="3654636" cy="102528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7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Process</a:t>
            </a:r>
            <a:r>
              <a:rPr sz="16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Transactions</a:t>
            </a:r>
            <a:r>
              <a:rPr sz="16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or</a:t>
            </a:r>
            <a:r>
              <a:rPr lang="en-IN"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Updates</a:t>
            </a:r>
            <a:r>
              <a:rPr lang="en-IN"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Backend</a:t>
            </a:r>
            <a:r>
              <a:rPr sz="16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executes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transactions,</a:t>
            </a:r>
            <a:r>
              <a:rPr sz="1600"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updates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</a:t>
            </a:r>
            <a:r>
              <a:rPr sz="1600" b="1" spc="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or</a:t>
            </a:r>
            <a:r>
              <a:rPr sz="16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user</a:t>
            </a:r>
            <a:r>
              <a:rPr sz="16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records,</a:t>
            </a:r>
            <a:r>
              <a:rPr sz="16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16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applies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changes</a:t>
            </a:r>
            <a:r>
              <a:rPr sz="1600"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securely.</a:t>
            </a:r>
            <a:endParaRPr sz="16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2938" y="2438638"/>
            <a:ext cx="3938276" cy="1333122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"/>
              </a:rPr>
              <a:t>Maintain</a:t>
            </a:r>
            <a:r>
              <a:rPr sz="16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"/>
              </a:rPr>
              <a:t>Data</a:t>
            </a:r>
            <a:r>
              <a:rPr sz="1600" b="1" spc="60" dirty="0">
                <a:solidFill>
                  <a:schemeClr val="tx1"/>
                </a:solidFill>
                <a:latin typeface="Calisto MT" panose="02040603050505030304" pitchFamily="18" charset="0"/>
                <a:cs typeface="Arial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"/>
              </a:rPr>
              <a:t>Integrity</a:t>
            </a:r>
            <a:endParaRPr sz="1600" b="1" dirty="0">
              <a:solidFill>
                <a:schemeClr val="tx1"/>
              </a:solidFill>
              <a:latin typeface="Calisto MT" panose="02040603050505030304" pitchFamily="18" charset="0"/>
              <a:cs typeface="Arial"/>
            </a:endParaRPr>
          </a:p>
          <a:p>
            <a:pPr marL="15240" marR="5080">
              <a:lnSpc>
                <a:spcPct val="121000"/>
              </a:lnSpc>
              <a:spcBef>
                <a:spcPts val="409"/>
              </a:spcBef>
            </a:pP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All</a:t>
            </a:r>
            <a:r>
              <a:rPr sz="16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input/autput</a:t>
            </a:r>
            <a:r>
              <a:rPr sz="1600" b="1" spc="1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steps</a:t>
            </a:r>
            <a:r>
              <a:rPr sz="16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ensure</a:t>
            </a:r>
            <a:r>
              <a:rPr sz="16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consistent, </a:t>
            </a:r>
            <a:r>
              <a:rPr sz="1600"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reliable</a:t>
            </a:r>
            <a:r>
              <a:rPr sz="1600"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data</a:t>
            </a:r>
            <a:r>
              <a:rPr sz="1600" b="1" spc="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across</a:t>
            </a:r>
            <a:r>
              <a:rPr sz="1600"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the</a:t>
            </a:r>
            <a:r>
              <a:rPr sz="1600" b="1" spc="-8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platform</a:t>
            </a:r>
            <a:r>
              <a:rPr sz="1600" b="1" spc="10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for </a:t>
            </a:r>
            <a:endParaRPr lang="en-IN" sz="1600" b="1" spc="-25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  <a:p>
            <a:pPr marL="15240" marR="5080">
              <a:lnSpc>
                <a:spcPct val="121000"/>
              </a:lnSpc>
              <a:spcBef>
                <a:spcPts val="409"/>
              </a:spcBef>
            </a:pPr>
            <a:r>
              <a:rPr sz="16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accurate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tracking</a:t>
            </a:r>
            <a:r>
              <a:rPr sz="1600" b="1" spc="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16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reporting</a:t>
            </a:r>
            <a:r>
              <a:rPr sz="1600" b="1" spc="-10" dirty="0">
                <a:solidFill>
                  <a:schemeClr val="tx1"/>
                </a:solidFill>
                <a:latin typeface="Arial MT"/>
                <a:cs typeface="Arial MT"/>
              </a:rPr>
              <a:t>.</a:t>
            </a:r>
            <a:endParaRPr sz="16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CDD48-17E1-D136-063E-61624592171E}"/>
              </a:ext>
            </a:extLst>
          </p:cNvPr>
          <p:cNvSpPr txBox="1"/>
          <p:nvPr/>
        </p:nvSpPr>
        <p:spPr>
          <a:xfrm>
            <a:off x="41166" y="2608184"/>
            <a:ext cx="33016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Calisto MT" panose="02040603050505030304" pitchFamily="18" charset="0"/>
              </a:rPr>
              <a:t>Overall, dashboards maintain contributor satisfaction and loyalty through clarity and responsiveness</a:t>
            </a:r>
            <a:endParaRPr lang="en-IN" sz="16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AAEA13-62C0-8DFD-E84B-1E329A600769}"/>
              </a:ext>
            </a:extLst>
          </p:cNvPr>
          <p:cNvSpPr txBox="1"/>
          <p:nvPr/>
        </p:nvSpPr>
        <p:spPr>
          <a:xfrm>
            <a:off x="361730" y="5950753"/>
            <a:ext cx="4070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Overall, dashboards maintain contributor satisfaction and loyalty through clarity and responsiveness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C432D-4A7D-13AD-7E04-490C3B6F8F4F}"/>
              </a:ext>
            </a:extLst>
          </p:cNvPr>
          <p:cNvSpPr txBox="1"/>
          <p:nvPr/>
        </p:nvSpPr>
        <p:spPr>
          <a:xfrm>
            <a:off x="5651500" y="5945499"/>
            <a:ext cx="4957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alisto MT" panose="02040603050505030304" pitchFamily="18" charset="0"/>
              </a:rPr>
              <a:t>Generats</a:t>
            </a:r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 Outputs Platform produces confirmations, notifications, or error messages to inform users of outcomes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010" y="4522304"/>
            <a:ext cx="190375" cy="1171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1456" y="4463030"/>
            <a:ext cx="1684069" cy="10145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1840" y="1282225"/>
            <a:ext cx="601559" cy="4309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8939" y="521819"/>
            <a:ext cx="9802901" cy="807272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600" dirty="0" err="1">
                <a:solidFill>
                  <a:srgbClr val="2844D4"/>
                </a:solidFill>
                <a:latin typeface="Book Antiqua" panose="02040602050305030304" pitchFamily="18" charset="0"/>
              </a:rPr>
              <a:t>Stre</a:t>
            </a:r>
            <a:r>
              <a:rPr lang="en-IN" sz="3600" dirty="0">
                <a:solidFill>
                  <a:srgbClr val="2844D4"/>
                </a:solidFill>
                <a:latin typeface="Book Antiqua" panose="02040602050305030304" pitchFamily="18" charset="0"/>
              </a:rPr>
              <a:t>a</a:t>
            </a:r>
            <a:r>
              <a:rPr sz="3600" dirty="0" err="1">
                <a:solidFill>
                  <a:srgbClr val="2844D4"/>
                </a:solidFill>
                <a:latin typeface="Book Antiqua" panose="02040602050305030304" pitchFamily="18" charset="0"/>
              </a:rPr>
              <a:t>mlining</a:t>
            </a:r>
            <a:r>
              <a:rPr sz="3600" spc="-70" dirty="0">
                <a:solidFill>
                  <a:srgbClr val="2844D4"/>
                </a:solidFill>
                <a:latin typeface="Book Antiqua" panose="02040602050305030304" pitchFamily="18" charset="0"/>
              </a:rPr>
              <a:t> </a:t>
            </a:r>
            <a:r>
              <a:rPr sz="3600" dirty="0">
                <a:solidFill>
                  <a:srgbClr val="2D49CC"/>
                </a:solidFill>
                <a:latin typeface="Book Antiqua" panose="02040602050305030304" pitchFamily="18" charset="0"/>
              </a:rPr>
              <a:t>Contribution</a:t>
            </a:r>
            <a:r>
              <a:rPr sz="3600" spc="-10" dirty="0">
                <a:solidFill>
                  <a:srgbClr val="2D49CC"/>
                </a:solidFill>
                <a:latin typeface="Book Antiqua" panose="02040602050305030304" pitchFamily="18" charset="0"/>
              </a:rPr>
              <a:t> </a:t>
            </a:r>
            <a:r>
              <a:rPr sz="3600" spc="-10" dirty="0">
                <a:solidFill>
                  <a:srgbClr val="3644DB"/>
                </a:solidFill>
                <a:latin typeface="Book Antiqua" panose="02040602050305030304" pitchFamily="18" charset="0"/>
              </a:rPr>
              <a:t>Confirm</a:t>
            </a:r>
            <a:r>
              <a:rPr lang="en-IN" sz="3600" spc="-10" dirty="0">
                <a:solidFill>
                  <a:srgbClr val="3644DB"/>
                </a:solidFill>
                <a:latin typeface="Book Antiqua" panose="02040602050305030304" pitchFamily="18" charset="0"/>
              </a:rPr>
              <a:t>a</a:t>
            </a:r>
            <a:r>
              <a:rPr sz="3600" spc="-10" dirty="0" err="1">
                <a:solidFill>
                  <a:srgbClr val="3644DB"/>
                </a:solidFill>
                <a:latin typeface="Book Antiqua" panose="02040602050305030304" pitchFamily="18" charset="0"/>
              </a:rPr>
              <a:t>tion</a:t>
            </a:r>
            <a:endParaRPr sz="3600" dirty="0">
              <a:latin typeface="Book Antiqua" panose="0204060205030503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96779" y="2144453"/>
            <a:ext cx="990600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dirty="0">
                <a:solidFill>
                  <a:srgbClr val="07B5F6"/>
                </a:solidFill>
                <a:latin typeface="Arial MT"/>
                <a:cs typeface="Arial MT"/>
              </a:rPr>
              <a:t>2</a:t>
            </a:r>
            <a:endParaRPr sz="4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0789" y="5143707"/>
            <a:ext cx="2729865" cy="307777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80"/>
              </a:spcBef>
            </a:pPr>
            <a:r>
              <a:rPr sz="1100" spc="-10" dirty="0">
                <a:solidFill>
                  <a:srgbClr val="0F0F0F"/>
                </a:solidFill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3443" y="4472375"/>
            <a:ext cx="569142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spc="50" dirty="0">
                <a:solidFill>
                  <a:srgbClr val="01C8A3"/>
                </a:solidFill>
                <a:latin typeface="Arial MT"/>
                <a:cs typeface="Arial MT"/>
              </a:rPr>
              <a:t>3</a:t>
            </a:r>
            <a:endParaRPr sz="480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ACA84-182F-8AD4-D505-723172890A8B}"/>
              </a:ext>
            </a:extLst>
          </p:cNvPr>
          <p:cNvSpPr txBox="1"/>
          <p:nvPr/>
        </p:nvSpPr>
        <p:spPr>
          <a:xfrm>
            <a:off x="304267" y="1997294"/>
            <a:ext cx="30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rgbClr val="07B5F6"/>
                </a:solidFill>
                <a:latin typeface="Arial MT"/>
                <a:cs typeface="Arial MT"/>
              </a:rPr>
              <a:t>1</a:t>
            </a:r>
            <a:endParaRPr lang="en-IN" sz="4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E9B84-4699-0AB5-903D-DB2B406E7343}"/>
              </a:ext>
            </a:extLst>
          </p:cNvPr>
          <p:cNvSpPr txBox="1"/>
          <p:nvPr/>
        </p:nvSpPr>
        <p:spPr>
          <a:xfrm>
            <a:off x="5287713" y="2643003"/>
            <a:ext cx="4952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Update Campaign Progress Reflect the new contribution instantly on campaign dashboards to maintain accurate progress tracking.</a:t>
            </a:r>
            <a:endParaRPr lang="en-IN" sz="20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E3B1D-839D-825C-3678-BF901E6CCAD8}"/>
              </a:ext>
            </a:extLst>
          </p:cNvPr>
          <p:cNvSpPr txBox="1"/>
          <p:nvPr/>
        </p:nvSpPr>
        <p:spPr>
          <a:xfrm>
            <a:off x="629771" y="2412793"/>
            <a:ext cx="4246304" cy="187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Transection Validation Securely confirm each donation to guarantee transactional integrity and prevent errors.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850E8-C737-1889-DC2A-802025B5C5B0}"/>
              </a:ext>
            </a:extLst>
          </p:cNvPr>
          <p:cNvSpPr txBox="1"/>
          <p:nvPr/>
        </p:nvSpPr>
        <p:spPr>
          <a:xfrm>
            <a:off x="5422585" y="5346273"/>
            <a:ext cx="4861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Send Confirmation Message Notify contributors promptly with confirmation messages reinforcing trust and engagement</a:t>
            </a:r>
            <a:endParaRPr lang="en-IN" sz="20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 flipV="1">
            <a:off x="106342" y="6305203"/>
            <a:ext cx="10421958" cy="796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16839" y="1251296"/>
            <a:ext cx="576560" cy="4234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-1" y="418666"/>
            <a:ext cx="10693399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sz="3200" spc="85" dirty="0">
                <a:solidFill>
                  <a:srgbClr val="184BDD"/>
                </a:solidFill>
                <a:latin typeface="Book Antiqua" panose="02040602050305030304" pitchFamily="18" charset="0"/>
              </a:rPr>
              <a:t>Stre</a:t>
            </a:r>
            <a:r>
              <a:rPr lang="en-US" sz="3200" spc="85" dirty="0">
                <a:solidFill>
                  <a:srgbClr val="184BDD"/>
                </a:solidFill>
                <a:latin typeface="Book Antiqua" panose="02040602050305030304" pitchFamily="18" charset="0"/>
              </a:rPr>
              <a:t>a</a:t>
            </a:r>
            <a:r>
              <a:rPr sz="3200" spc="85" dirty="0">
                <a:solidFill>
                  <a:srgbClr val="184BDD"/>
                </a:solidFill>
                <a:latin typeface="Book Antiqua" panose="02040602050305030304" pitchFamily="18" charset="0"/>
              </a:rPr>
              <a:t>mlining</a:t>
            </a:r>
            <a:r>
              <a:rPr sz="3200" spc="-35" dirty="0">
                <a:solidFill>
                  <a:srgbClr val="184BDD"/>
                </a:solidFill>
                <a:latin typeface="Book Antiqua" panose="02040602050305030304" pitchFamily="18" charset="0"/>
              </a:rPr>
              <a:t> </a:t>
            </a:r>
            <a:r>
              <a:rPr sz="3200" spc="155" dirty="0">
                <a:solidFill>
                  <a:srgbClr val="234DD1"/>
                </a:solidFill>
                <a:latin typeface="Book Antiqua" panose="02040602050305030304" pitchFamily="18" charset="0"/>
              </a:rPr>
              <a:t>C</a:t>
            </a:r>
            <a:r>
              <a:rPr lang="en-US" sz="3200" spc="155" dirty="0">
                <a:solidFill>
                  <a:srgbClr val="234DD1"/>
                </a:solidFill>
                <a:latin typeface="Book Antiqua" panose="02040602050305030304" pitchFamily="18" charset="0"/>
              </a:rPr>
              <a:t>a</a:t>
            </a:r>
            <a:r>
              <a:rPr sz="3200" spc="155" dirty="0">
                <a:solidFill>
                  <a:srgbClr val="234DD1"/>
                </a:solidFill>
                <a:latin typeface="Book Antiqua" panose="02040602050305030304" pitchFamily="18" charset="0"/>
              </a:rPr>
              <a:t>mp</a:t>
            </a:r>
            <a:r>
              <a:rPr lang="en-US" sz="3200" spc="155" dirty="0">
                <a:solidFill>
                  <a:srgbClr val="234DD1"/>
                </a:solidFill>
                <a:latin typeface="Book Antiqua" panose="02040602050305030304" pitchFamily="18" charset="0"/>
              </a:rPr>
              <a:t>a</a:t>
            </a:r>
            <a:r>
              <a:rPr sz="3200" spc="155" dirty="0">
                <a:solidFill>
                  <a:srgbClr val="234DD1"/>
                </a:solidFill>
                <a:latin typeface="Book Antiqua" panose="02040602050305030304" pitchFamily="18" charset="0"/>
              </a:rPr>
              <a:t>ign</a:t>
            </a:r>
            <a:r>
              <a:rPr sz="3200" spc="-90" dirty="0">
                <a:solidFill>
                  <a:srgbClr val="234DD1"/>
                </a:solidFill>
                <a:latin typeface="Book Antiqua" panose="02040602050305030304" pitchFamily="18" charset="0"/>
              </a:rPr>
              <a:t> </a:t>
            </a:r>
            <a:r>
              <a:rPr sz="3200" spc="80" dirty="0">
                <a:solidFill>
                  <a:srgbClr val="2357BF"/>
                </a:solidFill>
                <a:latin typeface="Book Antiqua" panose="02040602050305030304" pitchFamily="18" charset="0"/>
              </a:rPr>
              <a:t>Upd</a:t>
            </a:r>
            <a:r>
              <a:rPr lang="en-US" sz="3200" spc="80" dirty="0">
                <a:solidFill>
                  <a:srgbClr val="2357BF"/>
                </a:solidFill>
                <a:latin typeface="Book Antiqua" panose="02040602050305030304" pitchFamily="18" charset="0"/>
              </a:rPr>
              <a:t>a</a:t>
            </a:r>
            <a:r>
              <a:rPr sz="3200" spc="80" dirty="0">
                <a:solidFill>
                  <a:srgbClr val="2357BF"/>
                </a:solidFill>
                <a:latin typeface="Book Antiqua" panose="02040602050305030304" pitchFamily="18" charset="0"/>
              </a:rPr>
              <a:t>tes</a:t>
            </a:r>
            <a:r>
              <a:rPr sz="3200" spc="-114" dirty="0">
                <a:solidFill>
                  <a:srgbClr val="2357BF"/>
                </a:solidFill>
                <a:latin typeface="Book Antiqua" panose="02040602050305030304" pitchFamily="18" charset="0"/>
              </a:rPr>
              <a:t> </a:t>
            </a:r>
            <a:r>
              <a:rPr sz="3200" spc="80" dirty="0">
                <a:solidFill>
                  <a:srgbClr val="2649E1"/>
                </a:solidFill>
                <a:latin typeface="Book Antiqua" panose="02040602050305030304" pitchFamily="18" charset="0"/>
              </a:rPr>
              <a:t>and</a:t>
            </a:r>
            <a:r>
              <a:rPr sz="3200" spc="160" dirty="0">
                <a:solidFill>
                  <a:srgbClr val="2649E1"/>
                </a:solidFill>
                <a:latin typeface="Book Antiqua" panose="02040602050305030304" pitchFamily="18" charset="0"/>
              </a:rPr>
              <a:t> </a:t>
            </a:r>
            <a:r>
              <a:rPr sz="3200" dirty="0">
                <a:solidFill>
                  <a:srgbClr val="2D48DF"/>
                </a:solidFill>
                <a:latin typeface="Book Antiqua" panose="02040602050305030304" pitchFamily="18" charset="0"/>
              </a:rPr>
              <a:t>Progress</a:t>
            </a:r>
            <a:r>
              <a:rPr sz="3200" spc="-40" dirty="0">
                <a:solidFill>
                  <a:srgbClr val="2D48DF"/>
                </a:solidFill>
                <a:latin typeface="Book Antiqua" panose="02040602050305030304" pitchFamily="18" charset="0"/>
              </a:rPr>
              <a:t> </a:t>
            </a:r>
            <a:r>
              <a:rPr sz="3200" spc="70" dirty="0">
                <a:solidFill>
                  <a:srgbClr val="214DC8"/>
                </a:solidFill>
                <a:latin typeface="Book Antiqua" panose="02040602050305030304" pitchFamily="18" charset="0"/>
              </a:rPr>
              <a:t>Tr</a:t>
            </a:r>
            <a:r>
              <a:rPr lang="en-US" sz="3200" spc="70" dirty="0">
                <a:solidFill>
                  <a:srgbClr val="214DC8"/>
                </a:solidFill>
                <a:latin typeface="Book Antiqua" panose="02040602050305030304" pitchFamily="18" charset="0"/>
              </a:rPr>
              <a:t>a</a:t>
            </a:r>
            <a:r>
              <a:rPr sz="3200" spc="70" dirty="0">
                <a:solidFill>
                  <a:srgbClr val="214DC8"/>
                </a:solidFill>
                <a:latin typeface="Book Antiqua" panose="02040602050305030304" pitchFamily="18" charset="0"/>
              </a:rPr>
              <a:t>cking</a:t>
            </a:r>
            <a:endParaRPr sz="3200" dirty="0">
              <a:latin typeface="Book Antiqua" panose="0204060205030503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342" y="1364313"/>
            <a:ext cx="10693399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8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Enable</a:t>
            </a:r>
            <a:r>
              <a:rPr sz="32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creators</a:t>
            </a:r>
            <a:r>
              <a:rPr sz="32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to</a:t>
            </a:r>
            <a:r>
              <a:rPr sz="32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edit</a:t>
            </a:r>
            <a:r>
              <a:rPr sz="32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details,</a:t>
            </a:r>
            <a:r>
              <a:rPr sz="3200" b="1" spc="-8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track</a:t>
            </a:r>
            <a:r>
              <a:rPr sz="32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fundraising</a:t>
            </a:r>
            <a:r>
              <a:rPr sz="3200" b="1" spc="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</a:t>
            </a:r>
            <a:r>
              <a:rPr sz="32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7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real</a:t>
            </a:r>
            <a:r>
              <a:rPr sz="32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time,</a:t>
            </a:r>
            <a:r>
              <a:rPr sz="3200"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8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32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7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stay</a:t>
            </a:r>
            <a:r>
              <a:rPr sz="32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informed</a:t>
            </a:r>
            <a:r>
              <a:rPr sz="3200" b="1" spc="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with</a:t>
            </a:r>
            <a:r>
              <a:rPr sz="32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analytics</a:t>
            </a:r>
            <a:r>
              <a:rPr sz="3200" b="1" spc="8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200" b="1" spc="-10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32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notifications</a:t>
            </a:r>
            <a:endParaRPr sz="32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0488" y="2954883"/>
            <a:ext cx="4303806" cy="12092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530" marR="155575" algn="ctr">
              <a:lnSpc>
                <a:spcPct val="109800"/>
              </a:lnSpc>
              <a:spcBef>
                <a:spcPts val="90"/>
              </a:spcBef>
            </a:pPr>
            <a:r>
              <a:rPr lang="en-US" b="1" spc="-10" dirty="0">
                <a:solidFill>
                  <a:srgbClr val="0F0F0F"/>
                </a:solidFill>
                <a:latin typeface="Calisto MT" panose="02040603050505030304" pitchFamily="18" charset="0"/>
                <a:cs typeface="Arial MT"/>
              </a:rPr>
              <a:t>Integrate Analytics and Notifications Analytic provide insights while notifications keep creators informed of key changes and contributions</a:t>
            </a:r>
            <a:r>
              <a:rPr spc="-10" dirty="0">
                <a:solidFill>
                  <a:srgbClr val="0F0F0F"/>
                </a:solidFill>
                <a:latin typeface="Calisto MT" panose="02040603050505030304" pitchFamily="18" charset="0"/>
                <a:cs typeface="Arial MT"/>
              </a:rPr>
              <a:t>.</a:t>
            </a:r>
            <a:endParaRPr dirty="0">
              <a:latin typeface="Calisto MT" panose="02040603050505030304" pitchFamily="18" charset="0"/>
              <a:cs typeface="Arial MT"/>
            </a:endParaRP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47243FB0-9E4F-73DF-069D-A191336040E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22" y="2603661"/>
            <a:ext cx="508327" cy="4831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56E302-FEEE-C409-CDEB-0E1510F3FFBF}"/>
              </a:ext>
            </a:extLst>
          </p:cNvPr>
          <p:cNvSpPr txBox="1"/>
          <p:nvPr/>
        </p:nvSpPr>
        <p:spPr>
          <a:xfrm>
            <a:off x="1348815" y="4765188"/>
            <a:ext cx="4223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Process and Validate Data System validates updates and integrate changes into the database with real-time synchronization.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48F262-EC87-EBCB-6CA1-6BB439B40AEB}"/>
              </a:ext>
            </a:extLst>
          </p:cNvPr>
          <p:cNvSpPr txBox="1"/>
          <p:nvPr/>
        </p:nvSpPr>
        <p:spPr>
          <a:xfrm>
            <a:off x="625823" y="2854819"/>
            <a:ext cx="4003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Submit Campaign Update Creators submit edits to campaign details through intuitive tools ensuring seamless input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22" name="object 3">
            <a:extLst>
              <a:ext uri="{FF2B5EF4-FFF2-40B4-BE49-F238E27FC236}">
                <a16:creationId xmlns:a16="http://schemas.microsoft.com/office/drawing/2014/main" id="{34A10ADD-6330-7795-905D-472CF7C5487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6219" y="4413677"/>
            <a:ext cx="533400" cy="426579"/>
          </a:xfrm>
          <a:prstGeom prst="rect">
            <a:avLst/>
          </a:prstGeom>
        </p:spPr>
      </p:pic>
      <p:pic>
        <p:nvPicPr>
          <p:cNvPr id="23" name="object 6">
            <a:extLst>
              <a:ext uri="{FF2B5EF4-FFF2-40B4-BE49-F238E27FC236}">
                <a16:creationId xmlns:a16="http://schemas.microsoft.com/office/drawing/2014/main" id="{DFBF1CA8-3BE5-6B2A-0CCC-4E179EF376E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7336" y="2832955"/>
            <a:ext cx="508328" cy="3342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5D05BDC-EA77-9238-31D5-ADB3DED7C79F}"/>
              </a:ext>
            </a:extLst>
          </p:cNvPr>
          <p:cNvSpPr txBox="1"/>
          <p:nvPr/>
        </p:nvSpPr>
        <p:spPr>
          <a:xfrm>
            <a:off x="6589975" y="4827875"/>
            <a:ext cx="396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Refresh the dashboard, and it updates instantly to reflect the current fundraising progress and campaign metrics.</a:t>
            </a:r>
          </a:p>
          <a:p>
            <a:endParaRPr lang="en-IN" dirty="0"/>
          </a:p>
        </p:txBody>
      </p:sp>
      <p:pic>
        <p:nvPicPr>
          <p:cNvPr id="26" name="object 10">
            <a:extLst>
              <a:ext uri="{FF2B5EF4-FFF2-40B4-BE49-F238E27FC236}">
                <a16:creationId xmlns:a16="http://schemas.microsoft.com/office/drawing/2014/main" id="{3F61F7CF-C4A5-908D-884C-B1010D2A1D9C}"/>
              </a:ext>
            </a:extLst>
          </p:cNvPr>
          <p:cNvPicPr/>
          <p:nvPr/>
        </p:nvPicPr>
        <p:blipFill>
          <a:blip r:embed="rId7" cstate="print"/>
          <a:srcRect l="83118" t="27045" r="1"/>
          <a:stretch>
            <a:fillRect/>
          </a:stretch>
        </p:blipFill>
        <p:spPr>
          <a:xfrm>
            <a:off x="5651500" y="4452587"/>
            <a:ext cx="709113" cy="572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67214" y="3383941"/>
            <a:ext cx="984138" cy="536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IN" spc="-50" dirty="0">
                <a:solidFill>
                  <a:srgbClr val="2656FB"/>
                </a:solidFill>
                <a:latin typeface="Arial MT"/>
                <a:cs typeface="Arial MT"/>
              </a:rPr>
              <a:t>O</a:t>
            </a:r>
            <a:endParaRPr lang="en-IN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4419" y="3411360"/>
            <a:ext cx="3549075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Implement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input</a:t>
            </a:r>
            <a:r>
              <a:rPr b="1" spc="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validation</a:t>
            </a:r>
            <a:r>
              <a:rPr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on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9980" y="3652284"/>
            <a:ext cx="3087726" cy="55976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875" marR="5080" indent="-3810">
              <a:lnSpc>
                <a:spcPct val="102400"/>
              </a:lnSpc>
              <a:spcBef>
                <a:spcPts val="80"/>
              </a:spcBef>
            </a:pP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forms</a:t>
            </a:r>
            <a:r>
              <a:rPr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b="1" spc="-1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ensure</a:t>
            </a:r>
            <a:r>
              <a:rPr b="1" spc="-8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data</a:t>
            </a:r>
            <a:r>
              <a:rPr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accuracy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completeness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253" y="5785056"/>
            <a:ext cx="608405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>
                <a:solidFill>
                  <a:srgbClr val="1A4FC1"/>
                </a:solidFill>
                <a:latin typeface="Arial MT"/>
                <a:cs typeface="Arial MT"/>
              </a:rPr>
              <a:t>O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2769" y="5765592"/>
            <a:ext cx="406360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>
                <a:solidFill>
                  <a:srgbClr val="1850C8"/>
                </a:solidFill>
                <a:latin typeface="Arial MT"/>
                <a:cs typeface="Arial MT"/>
              </a:rPr>
              <a:t>O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B070D-03C1-B1AD-A483-9DC796CE008A}"/>
              </a:ext>
            </a:extLst>
          </p:cNvPr>
          <p:cNvSpPr txBox="1"/>
          <p:nvPr/>
        </p:nvSpPr>
        <p:spPr>
          <a:xfrm>
            <a:off x="4523" y="3390447"/>
            <a:ext cx="3549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spc="-50" dirty="0">
                <a:solidFill>
                  <a:srgbClr val="2656FB"/>
                </a:solidFill>
                <a:latin typeface="Arial MT"/>
                <a:cs typeface="Arial MT"/>
              </a:rPr>
              <a:t>O</a:t>
            </a:r>
            <a:r>
              <a:rPr lang="en-IN" spc="-50" dirty="0">
                <a:latin typeface="Arial MT"/>
                <a:cs typeface="Arial M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Enable contributors and users to manage profile information easily and securely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A26B88-7319-FC31-8FD3-FAA56B6FC34F}"/>
              </a:ext>
            </a:extLst>
          </p:cNvPr>
          <p:cNvSpPr txBox="1"/>
          <p:nvPr/>
        </p:nvSpPr>
        <p:spPr>
          <a:xfrm>
            <a:off x="7126227" y="3390447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Enable contributors and users to manage profile information easily and securely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9C907-F0BD-2A4A-8AFB-2922E0E9D45F}"/>
              </a:ext>
            </a:extLst>
          </p:cNvPr>
          <p:cNvSpPr txBox="1"/>
          <p:nvPr/>
        </p:nvSpPr>
        <p:spPr>
          <a:xfrm>
            <a:off x="3985949" y="5767148"/>
            <a:ext cx="4120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Maintain accurate profiles to support personalized communication and platform reliability</a:t>
            </a:r>
            <a:endParaRPr lang="en-IN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0168E-557B-B96F-D3D9-86A3C6F6877C}"/>
              </a:ext>
            </a:extLst>
          </p:cNvPr>
          <p:cNvSpPr txBox="1"/>
          <p:nvPr/>
        </p:nvSpPr>
        <p:spPr>
          <a:xfrm>
            <a:off x="6845406" y="3295871"/>
            <a:ext cx="38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IN" sz="1800" spc="-50" dirty="0">
                <a:solidFill>
                  <a:srgbClr val="2656FB"/>
                </a:solidFill>
                <a:latin typeface="Arial MT"/>
                <a:cs typeface="Arial MT"/>
              </a:rPr>
              <a:t>O</a:t>
            </a:r>
            <a:endParaRPr lang="en-IN" sz="1800" dirty="0">
              <a:latin typeface="Arial MT"/>
              <a:cs typeface="Arial M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762B8-3884-E603-05F4-8259AEB5D810}"/>
              </a:ext>
            </a:extLst>
          </p:cNvPr>
          <p:cNvSpPr txBox="1"/>
          <p:nvPr/>
        </p:nvSpPr>
        <p:spPr>
          <a:xfrm>
            <a:off x="344703" y="5863291"/>
            <a:ext cx="3438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Provide clear update confirmation to assure users their changes are saved</a:t>
            </a:r>
          </a:p>
          <a:p>
            <a:endParaRPr lang="en-IN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5364"/>
            <a:ext cx="697198" cy="4708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 flipH="1">
            <a:off x="5422898" y="120650"/>
            <a:ext cx="76201" cy="7239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73065" y="1224873"/>
            <a:ext cx="5093170" cy="56368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5100" y="3986504"/>
            <a:ext cx="4676140" cy="13106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8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Implement</a:t>
            </a:r>
            <a:r>
              <a:rPr sz="2800" b="1" spc="10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messaging,</a:t>
            </a:r>
            <a:r>
              <a:rPr sz="28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notifications,</a:t>
            </a:r>
            <a:r>
              <a:rPr sz="2800" b="1" spc="-9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2800" b="1" spc="-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update</a:t>
            </a:r>
            <a:r>
              <a:rPr sz="2800" b="1" spc="5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fee</a:t>
            </a:r>
            <a:r>
              <a:rPr lang="en-US"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l</a:t>
            </a:r>
            <a:r>
              <a:rPr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</a:t>
            </a:r>
            <a:r>
              <a:rPr sz="28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sz="28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enhance</a:t>
            </a:r>
            <a:r>
              <a:rPr sz="2800" b="1" spc="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engagement</a:t>
            </a:r>
            <a:endParaRPr sz="28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574D4-4ECA-B892-F8C1-84A2261C1218}"/>
              </a:ext>
            </a:extLst>
          </p:cNvPr>
          <p:cNvSpPr txBox="1"/>
          <p:nvPr/>
        </p:nvSpPr>
        <p:spPr>
          <a:xfrm>
            <a:off x="-94256" y="1224873"/>
            <a:ext cx="5880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 Antiqua" panose="02040602050305030304" pitchFamily="18" charset="0"/>
              </a:rPr>
              <a:t>Communication Features:</a:t>
            </a:r>
          </a:p>
          <a:p>
            <a:r>
              <a:rPr lang="en-US" sz="3600" b="1" dirty="0">
                <a:solidFill>
                  <a:schemeClr val="tx1"/>
                </a:solidFill>
                <a:latin typeface="Book Antiqua" panose="02040602050305030304" pitchFamily="18" charset="0"/>
              </a:rPr>
              <a:t>Connecting Creators and Contributors</a:t>
            </a:r>
            <a:endParaRPr lang="en-IN" sz="36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6934"/>
            <a:ext cx="7843313" cy="12146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4117" y="3826170"/>
            <a:ext cx="2398111" cy="1130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08815" y="1269028"/>
            <a:ext cx="584584" cy="4226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145" y="701565"/>
            <a:ext cx="1011418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1F54E2"/>
                </a:solidFill>
                <a:latin typeface="Calisto MT" panose="02040603050505030304" pitchFamily="18" charset="0"/>
              </a:rPr>
              <a:t>Ensuring</a:t>
            </a:r>
            <a:r>
              <a:rPr sz="3600" b="1" spc="-60" dirty="0">
                <a:solidFill>
                  <a:srgbClr val="1F54E2"/>
                </a:solidFill>
                <a:latin typeface="Calisto MT" panose="02040603050505030304" pitchFamily="18" charset="0"/>
              </a:rPr>
              <a:t> </a:t>
            </a:r>
            <a:r>
              <a:rPr sz="3600" b="1" spc="65" dirty="0">
                <a:solidFill>
                  <a:srgbClr val="2B4FE6"/>
                </a:solidFill>
                <a:latin typeface="Calisto MT" panose="02040603050505030304" pitchFamily="18" charset="0"/>
              </a:rPr>
              <a:t>D</a:t>
            </a:r>
            <a:r>
              <a:rPr lang="en-US" sz="3600" b="1" spc="65" dirty="0">
                <a:solidFill>
                  <a:srgbClr val="2B4FE6"/>
                </a:solidFill>
                <a:latin typeface="Calisto MT" panose="02040603050505030304" pitchFamily="18" charset="0"/>
              </a:rPr>
              <a:t>a</a:t>
            </a:r>
            <a:r>
              <a:rPr sz="3600" b="1" spc="65" dirty="0">
                <a:solidFill>
                  <a:srgbClr val="2B4FE6"/>
                </a:solidFill>
                <a:latin typeface="Calisto MT" panose="02040603050505030304" pitchFamily="18" charset="0"/>
              </a:rPr>
              <a:t>t</a:t>
            </a:r>
            <a:r>
              <a:rPr lang="en-US" sz="3600" b="1" spc="65" dirty="0">
                <a:solidFill>
                  <a:srgbClr val="2B4FE6"/>
                </a:solidFill>
                <a:latin typeface="Calisto MT" panose="02040603050505030304" pitchFamily="18" charset="0"/>
              </a:rPr>
              <a:t>a</a:t>
            </a:r>
            <a:r>
              <a:rPr sz="3600" b="1" spc="-185" dirty="0">
                <a:solidFill>
                  <a:srgbClr val="2B4FE6"/>
                </a:solidFill>
                <a:latin typeface="Calisto MT" panose="02040603050505030304" pitchFamily="18" charset="0"/>
              </a:rPr>
              <a:t> </a:t>
            </a:r>
            <a:r>
              <a:rPr sz="3600" b="1" spc="90" dirty="0">
                <a:solidFill>
                  <a:srgbClr val="2B44AE"/>
                </a:solidFill>
                <a:latin typeface="Calisto MT" panose="02040603050505030304" pitchFamily="18" charset="0"/>
              </a:rPr>
              <a:t>Integrity</a:t>
            </a:r>
            <a:r>
              <a:rPr sz="3600" b="1" spc="-45" dirty="0">
                <a:solidFill>
                  <a:srgbClr val="2B44AE"/>
                </a:solidFill>
                <a:latin typeface="Calisto MT" panose="02040603050505030304" pitchFamily="18" charset="0"/>
              </a:rPr>
              <a:t> </a:t>
            </a:r>
            <a:r>
              <a:rPr lang="en-US" sz="3600" b="1" spc="110" dirty="0">
                <a:solidFill>
                  <a:srgbClr val="1C46E1"/>
                </a:solidFill>
                <a:latin typeface="Calisto MT" panose="02040603050505030304" pitchFamily="18" charset="0"/>
              </a:rPr>
              <a:t>a</a:t>
            </a:r>
            <a:r>
              <a:rPr sz="3600" b="1" spc="110" dirty="0">
                <a:solidFill>
                  <a:srgbClr val="1C46E1"/>
                </a:solidFill>
                <a:latin typeface="Calisto MT" panose="02040603050505030304" pitchFamily="18" charset="0"/>
              </a:rPr>
              <a:t>nd</a:t>
            </a:r>
            <a:r>
              <a:rPr sz="3600" b="1" spc="-35" dirty="0">
                <a:solidFill>
                  <a:srgbClr val="1C46E1"/>
                </a:solidFill>
                <a:latin typeface="Calisto MT" panose="02040603050505030304" pitchFamily="18" charset="0"/>
              </a:rPr>
              <a:t> </a:t>
            </a:r>
            <a:r>
              <a:rPr sz="3600" b="1" dirty="0">
                <a:solidFill>
                  <a:srgbClr val="2344C6"/>
                </a:solidFill>
                <a:latin typeface="Calisto MT" panose="02040603050505030304" pitchFamily="18" charset="0"/>
              </a:rPr>
              <a:t>System</a:t>
            </a:r>
            <a:r>
              <a:rPr sz="3600" b="1" spc="-60" dirty="0">
                <a:solidFill>
                  <a:srgbClr val="2344C6"/>
                </a:solidFill>
                <a:latin typeface="Calisto MT" panose="02040603050505030304" pitchFamily="18" charset="0"/>
              </a:rPr>
              <a:t> </a:t>
            </a:r>
            <a:r>
              <a:rPr sz="3600" b="1" spc="-10" dirty="0">
                <a:solidFill>
                  <a:srgbClr val="2B3FC4"/>
                </a:solidFill>
                <a:latin typeface="Calisto MT" panose="02040603050505030304" pitchFamily="18" charset="0"/>
              </a:rPr>
              <a:t>Reli</a:t>
            </a:r>
            <a:r>
              <a:rPr lang="en-US" sz="3600" b="1" spc="-10" dirty="0">
                <a:solidFill>
                  <a:srgbClr val="2B3FC4"/>
                </a:solidFill>
                <a:latin typeface="Calisto MT" panose="02040603050505030304" pitchFamily="18" charset="0"/>
              </a:rPr>
              <a:t>a</a:t>
            </a:r>
            <a:r>
              <a:rPr sz="3600" b="1" spc="-10" dirty="0">
                <a:solidFill>
                  <a:srgbClr val="2B3FC4"/>
                </a:solidFill>
                <a:latin typeface="Calisto MT" panose="02040603050505030304" pitchFamily="18" charset="0"/>
              </a:rPr>
              <a:t>bility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145" y="2086334"/>
            <a:ext cx="1075690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b="1" spc="-1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Key</a:t>
            </a:r>
            <a:r>
              <a:rPr sz="36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practices</a:t>
            </a:r>
            <a:r>
              <a:rPr sz="3600" b="1" spc="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sz="36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protect</a:t>
            </a:r>
            <a:r>
              <a:rPr sz="3600" b="1" spc="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10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user</a:t>
            </a:r>
            <a:r>
              <a:rPr sz="3600" b="1" spc="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lang="en-US" sz="3600" b="1" spc="-1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</a:t>
            </a:r>
            <a:r>
              <a:rPr sz="3600" b="1" spc="-1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ata</a:t>
            </a:r>
            <a:r>
              <a:rPr sz="3600"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1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3600" b="1" spc="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8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maintain</a:t>
            </a:r>
            <a:r>
              <a:rPr sz="3600" b="1" spc="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8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continuous</a:t>
            </a:r>
            <a:r>
              <a:rPr sz="3600" b="1" spc="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platform</a:t>
            </a:r>
            <a:r>
              <a:rPr sz="36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trust</a:t>
            </a:r>
            <a:endParaRPr sz="36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19" y="4567646"/>
            <a:ext cx="724925" cy="7306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1840" y="1286719"/>
            <a:ext cx="601559" cy="43096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H="1">
            <a:off x="-54316" y="2223760"/>
            <a:ext cx="143061" cy="706878"/>
          </a:xfrm>
          <a:custGeom>
            <a:avLst/>
            <a:gdLst/>
            <a:ahLst/>
            <a:cxnLst/>
            <a:rect l="l" t="t" r="r" b="b"/>
            <a:pathLst>
              <a:path h="467360">
                <a:moveTo>
                  <a:pt x="0" y="466881"/>
                </a:moveTo>
                <a:lnTo>
                  <a:pt x="0" y="0"/>
                </a:lnTo>
              </a:path>
            </a:pathLst>
          </a:custGeom>
          <a:ln w="8978">
            <a:solidFill>
              <a:srgbClr val="3B54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8320" y="2225919"/>
            <a:ext cx="739212" cy="706877"/>
            <a:chOff x="436953" y="3103368"/>
            <a:chExt cx="467359" cy="467359"/>
          </a:xfrm>
        </p:grpSpPr>
        <p:sp>
          <p:nvSpPr>
            <p:cNvPr id="7" name="object 7"/>
            <p:cNvSpPr/>
            <p:nvPr/>
          </p:nvSpPr>
          <p:spPr>
            <a:xfrm>
              <a:off x="899346" y="3103368"/>
              <a:ext cx="0" cy="467359"/>
            </a:xfrm>
            <a:custGeom>
              <a:avLst/>
              <a:gdLst/>
              <a:ahLst/>
              <a:cxnLst/>
              <a:rect l="l" t="t" r="r" b="b"/>
              <a:pathLst>
                <a:path h="467360">
                  <a:moveTo>
                    <a:pt x="0" y="466881"/>
                  </a:moveTo>
                  <a:lnTo>
                    <a:pt x="0" y="0"/>
                  </a:lnTo>
                </a:path>
              </a:pathLst>
            </a:custGeom>
            <a:ln w="8978">
              <a:solidFill>
                <a:srgbClr val="3B54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6953" y="3107857"/>
              <a:ext cx="467359" cy="0"/>
            </a:xfrm>
            <a:custGeom>
              <a:avLst/>
              <a:gdLst/>
              <a:ahLst/>
              <a:cxnLst/>
              <a:rect l="l" t="t" r="r" b="b"/>
              <a:pathLst>
                <a:path w="467359">
                  <a:moveTo>
                    <a:pt x="0" y="0"/>
                  </a:moveTo>
                  <a:lnTo>
                    <a:pt x="466882" y="0"/>
                  </a:lnTo>
                </a:path>
              </a:pathLst>
            </a:custGeom>
            <a:ln w="8978">
              <a:solidFill>
                <a:srgbClr val="3B54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6953" y="3565760"/>
              <a:ext cx="467359" cy="0"/>
            </a:xfrm>
            <a:custGeom>
              <a:avLst/>
              <a:gdLst/>
              <a:ahLst/>
              <a:cxnLst/>
              <a:rect l="l" t="t" r="r" b="b"/>
              <a:pathLst>
                <a:path w="467359">
                  <a:moveTo>
                    <a:pt x="0" y="0"/>
                  </a:moveTo>
                  <a:lnTo>
                    <a:pt x="466882" y="0"/>
                  </a:lnTo>
                </a:path>
              </a:pathLst>
            </a:custGeom>
            <a:ln w="8978">
              <a:solidFill>
                <a:srgbClr val="3B54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710" y="3154246"/>
              <a:ext cx="314247" cy="3232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710" y="3154246"/>
              <a:ext cx="314247" cy="3232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7972145" y="2149545"/>
            <a:ext cx="772158" cy="699861"/>
            <a:chOff x="448925" y="4456129"/>
            <a:chExt cx="484839" cy="484838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925" y="4456129"/>
              <a:ext cx="484839" cy="4848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925" y="4463570"/>
              <a:ext cx="423553" cy="47739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953480" y="2255072"/>
            <a:ext cx="658893" cy="649007"/>
            <a:chOff x="2998820" y="3073440"/>
            <a:chExt cx="476250" cy="48514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8820" y="3073440"/>
              <a:ext cx="475860" cy="4848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98820" y="3073440"/>
              <a:ext cx="475860" cy="48483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556069" y="2223760"/>
            <a:ext cx="739207" cy="606246"/>
            <a:chOff x="5539737" y="3073440"/>
            <a:chExt cx="485140" cy="49403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9737" y="3531344"/>
              <a:ext cx="484839" cy="359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39737" y="3073440"/>
              <a:ext cx="484839" cy="493817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3715345" y="4579771"/>
            <a:ext cx="724925" cy="718545"/>
            <a:chOff x="5539737" y="4456129"/>
            <a:chExt cx="485140" cy="485140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39737" y="4456129"/>
              <a:ext cx="484839" cy="48483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39737" y="4456129"/>
              <a:ext cx="484839" cy="48483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003821" y="4567646"/>
            <a:ext cx="772637" cy="718098"/>
            <a:chOff x="8080654" y="3073440"/>
            <a:chExt cx="485140" cy="485140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80654" y="3073440"/>
              <a:ext cx="484839" cy="4848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80654" y="3073440"/>
              <a:ext cx="484839" cy="484838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67517" y="290978"/>
            <a:ext cx="103759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z="3600" spc="75" dirty="0">
                <a:solidFill>
                  <a:srgbClr val="283BD1"/>
                </a:solidFill>
                <a:latin typeface="Book Antiqua" panose="02040602050305030304" pitchFamily="18" charset="0"/>
              </a:rPr>
              <a:t>Overcoming</a:t>
            </a:r>
            <a:r>
              <a:rPr sz="3600" spc="-75" dirty="0">
                <a:solidFill>
                  <a:srgbClr val="283BD1"/>
                </a:solidFill>
                <a:latin typeface="Book Antiqua" panose="02040602050305030304" pitchFamily="18" charset="0"/>
              </a:rPr>
              <a:t> </a:t>
            </a:r>
            <a:r>
              <a:rPr sz="3600" spc="-35" dirty="0">
                <a:solidFill>
                  <a:srgbClr val="314DDD"/>
                </a:solidFill>
                <a:latin typeface="Book Antiqua" panose="02040602050305030304" pitchFamily="18" charset="0"/>
              </a:rPr>
              <a:t>Key</a:t>
            </a:r>
            <a:r>
              <a:rPr sz="3600" spc="-204" dirty="0">
                <a:solidFill>
                  <a:srgbClr val="314DDD"/>
                </a:solidFill>
                <a:latin typeface="Book Antiqua" panose="02040602050305030304" pitchFamily="18" charset="0"/>
              </a:rPr>
              <a:t> </a:t>
            </a:r>
            <a:r>
              <a:rPr sz="3600" spc="50" dirty="0">
                <a:solidFill>
                  <a:srgbClr val="284BE8"/>
                </a:solidFill>
                <a:latin typeface="Book Antiqua" panose="02040602050305030304" pitchFamily="18" charset="0"/>
              </a:rPr>
              <a:t>Development</a:t>
            </a:r>
            <a:r>
              <a:rPr sz="3600" spc="-15" dirty="0">
                <a:solidFill>
                  <a:srgbClr val="284BE8"/>
                </a:solidFill>
                <a:latin typeface="Book Antiqua" panose="02040602050305030304" pitchFamily="18" charset="0"/>
              </a:rPr>
              <a:t> </a:t>
            </a:r>
            <a:r>
              <a:rPr sz="3600" spc="-10" dirty="0">
                <a:solidFill>
                  <a:srgbClr val="364BDD"/>
                </a:solidFill>
                <a:latin typeface="Book Antiqua" panose="02040602050305030304" pitchFamily="18" charset="0"/>
              </a:rPr>
              <a:t>Ch</a:t>
            </a:r>
            <a:r>
              <a:rPr lang="en-US" sz="3600" spc="-10" dirty="0">
                <a:solidFill>
                  <a:srgbClr val="364BDD"/>
                </a:solidFill>
                <a:latin typeface="Book Antiqua" panose="02040602050305030304" pitchFamily="18" charset="0"/>
              </a:rPr>
              <a:t>a</a:t>
            </a:r>
            <a:r>
              <a:rPr sz="3600" spc="-10" dirty="0">
                <a:solidFill>
                  <a:srgbClr val="364BDD"/>
                </a:solidFill>
                <a:latin typeface="Book Antiqua" panose="02040602050305030304" pitchFamily="18" charset="0"/>
              </a:rPr>
              <a:t>llenges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4636" y="3036190"/>
            <a:ext cx="2772187" cy="97847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6350">
              <a:lnSpc>
                <a:spcPts val="1410"/>
              </a:lnSpc>
              <a:spcBef>
                <a:spcPts val="200"/>
              </a:spcBef>
            </a:pPr>
            <a:r>
              <a:rPr lang="en-US" sz="1600" b="1" dirty="0">
                <a:latin typeface="Calisto MT" panose="02040603050505030304" pitchFamily="18" charset="0"/>
                <a:cs typeface="Arial MT"/>
              </a:rPr>
              <a:t>Handle OOMJ:DEV </a:t>
            </a:r>
          </a:p>
          <a:p>
            <a:pPr marL="12700" marR="5080" indent="6350">
              <a:lnSpc>
                <a:spcPts val="1410"/>
              </a:lnSpc>
              <a:spcBef>
                <a:spcPts val="200"/>
              </a:spcBef>
            </a:pPr>
            <a:r>
              <a:rPr lang="en-US" sz="1600" b="1" dirty="0">
                <a:latin typeface="Calisto MT" panose="02040603050505030304" pitchFamily="18" charset="0"/>
                <a:cs typeface="Arial MT"/>
              </a:rPr>
              <a:t>user permissions to</a:t>
            </a:r>
          </a:p>
          <a:p>
            <a:pPr marL="12700" marR="5080" indent="6350">
              <a:lnSpc>
                <a:spcPts val="1410"/>
              </a:lnSpc>
              <a:spcBef>
                <a:spcPts val="200"/>
              </a:spcBef>
            </a:pPr>
            <a:r>
              <a:rPr lang="en-US" sz="1600" b="1" dirty="0">
                <a:latin typeface="Calisto MT" panose="02040603050505030304" pitchFamily="18" charset="0"/>
                <a:cs typeface="Arial MT"/>
              </a:rPr>
              <a:t>ensure proper access control for admins, campaign creators, and contributors</a:t>
            </a:r>
            <a:endParaRPr sz="1600"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46660" y="2660924"/>
            <a:ext cx="1943191" cy="186846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r>
              <a:rPr lang="en-US" sz="1600" b="1" dirty="0">
                <a:latin typeface="Calisto MT" panose="02040603050505030304" pitchFamily="18" charset="0"/>
              </a:rPr>
              <a:t>Leverage APIs for data exchange to enable seamless integration between user dashboards and</a:t>
            </a:r>
          </a:p>
          <a:p>
            <a:r>
              <a:rPr lang="en-US" sz="1600" b="1" dirty="0">
                <a:latin typeface="Calisto MT" panose="02040603050505030304" pitchFamily="18" charset="0"/>
              </a:rPr>
              <a:t>backend services</a:t>
            </a:r>
            <a:r>
              <a:rPr lang="en-US" sz="1600" b="1" dirty="0"/>
              <a:t>.</a:t>
            </a:r>
            <a:endParaRPr lang="en-US" sz="1600" dirty="0"/>
          </a:p>
          <a:p>
            <a:br>
              <a:rPr lang="en-US" sz="1200" dirty="0"/>
            </a:br>
            <a:endParaRPr sz="1200" dirty="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82" y="5607050"/>
            <a:ext cx="3398990" cy="110915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905">
              <a:lnSpc>
                <a:spcPct val="108900"/>
              </a:lnSpc>
              <a:spcBef>
                <a:spcPts val="10"/>
              </a:spcBef>
            </a:pPr>
            <a:r>
              <a:rPr sz="1600" b="1" spc="-75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lmpleme</a:t>
            </a:r>
            <a:r>
              <a:rPr lang="en-US" sz="1600" b="1" spc="-75" dirty="0" err="1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nts</a:t>
            </a:r>
            <a:r>
              <a:rPr sz="16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7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thorough</a:t>
            </a:r>
            <a:r>
              <a:rPr sz="16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tec</a:t>
            </a:r>
            <a:r>
              <a:rPr lang="en-US"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h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b</a:t>
            </a:r>
            <a:r>
              <a:rPr lang="en-US"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g 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sz="1600" b="1" spc="-9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3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identify</a:t>
            </a:r>
            <a:r>
              <a:rPr sz="1600"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sz="1600"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resolve</a:t>
            </a:r>
            <a:r>
              <a:rPr sz="1600"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issues </a:t>
            </a:r>
            <a:r>
              <a:rPr sz="1600"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early,</a:t>
            </a:r>
            <a:r>
              <a:rPr sz="1600"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ensuring</a:t>
            </a:r>
            <a:r>
              <a:rPr sz="1600" b="1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platform</a:t>
            </a:r>
            <a:endParaRPr sz="16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204"/>
              </a:spcBef>
            </a:pPr>
            <a:r>
              <a:rPr sz="1600"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reliability</a:t>
            </a:r>
            <a:endParaRPr sz="1600"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53298" y="2849406"/>
            <a:ext cx="2501047" cy="11504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17800"/>
              </a:lnSpc>
              <a:spcBef>
                <a:spcPts val="95"/>
              </a:spcBef>
            </a:pPr>
            <a:r>
              <a:rPr sz="1600" b="1" spc="-30" dirty="0">
                <a:latin typeface="Calisto MT" panose="02040603050505030304" pitchFamily="18" charset="0"/>
                <a:cs typeface="Arial MT"/>
              </a:rPr>
              <a:t>Manage</a:t>
            </a:r>
            <a:r>
              <a:rPr sz="1600" b="1" spc="-15" dirty="0">
                <a:latin typeface="Calisto MT" panose="02040603050505030304" pitchFamily="18" charset="0"/>
                <a:cs typeface="Arial MT"/>
              </a:rPr>
              <a:t> </a:t>
            </a:r>
            <a:r>
              <a:rPr lang="en-US" sz="1600" b="1" spc="-30" dirty="0">
                <a:latin typeface="Calisto MT" panose="02040603050505030304" pitchFamily="18" charset="0"/>
                <a:cs typeface="Arial MT"/>
              </a:rPr>
              <a:t>secure</a:t>
            </a:r>
            <a:r>
              <a:rPr sz="1600" b="1" spc="-40" dirty="0"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latin typeface="Calisto MT" panose="02040603050505030304" pitchFamily="18" charset="0"/>
                <a:cs typeface="Arial MT"/>
              </a:rPr>
              <a:t>fin</a:t>
            </a:r>
            <a:r>
              <a:rPr lang="en-US" sz="1600" b="1" spc="-10" dirty="0">
                <a:latin typeface="Calisto MT" panose="02040603050505030304" pitchFamily="18" charset="0"/>
                <a:cs typeface="Arial MT"/>
              </a:rPr>
              <a:t>ancial</a:t>
            </a:r>
            <a:r>
              <a:rPr sz="1600" b="1" spc="-10" dirty="0"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latin typeface="Calisto MT" panose="02040603050505030304" pitchFamily="18" charset="0"/>
                <a:cs typeface="Arial MT"/>
              </a:rPr>
              <a:t>amsamions</a:t>
            </a:r>
            <a:r>
              <a:rPr sz="1600" b="1" spc="105" dirty="0">
                <a:latin typeface="Calisto MT" panose="0204060305050503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1D1D1D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sz="1600" b="1" spc="-10" dirty="0">
                <a:solidFill>
                  <a:srgbClr val="1D1D1D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latin typeface="Calisto MT" panose="02040603050505030304" pitchFamily="18" charset="0"/>
                <a:cs typeface="Arial MT"/>
              </a:rPr>
              <a:t>protem </a:t>
            </a:r>
            <a:r>
              <a:rPr sz="1600" b="1" spc="-10" dirty="0">
                <a:solidFill>
                  <a:srgbClr val="0E0E0E"/>
                </a:solidFill>
                <a:latin typeface="Calisto MT" panose="02040603050505030304" pitchFamily="18" charset="0"/>
                <a:cs typeface="Arial MT"/>
              </a:rPr>
              <a:t>contributor</a:t>
            </a:r>
            <a:r>
              <a:rPr sz="1600" b="1" spc="30" dirty="0">
                <a:solidFill>
                  <a:srgbClr val="0E0E0E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30" dirty="0">
                <a:latin typeface="Calisto MT" panose="02040603050505030304" pitchFamily="18" charset="0"/>
                <a:cs typeface="Arial MT"/>
              </a:rPr>
              <a:t>payrnems</a:t>
            </a:r>
            <a:r>
              <a:rPr sz="1600" b="1" spc="-10" dirty="0"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30" dirty="0">
                <a:solidFill>
                  <a:srgbClr val="080808"/>
                </a:solidFill>
                <a:latin typeface="Calisto MT" panose="02040603050505030304" pitchFamily="18" charset="0"/>
                <a:cs typeface="Arial MT"/>
              </a:rPr>
              <a:t>and </a:t>
            </a:r>
            <a:r>
              <a:rPr sz="1600" b="1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platform</a:t>
            </a:r>
            <a:r>
              <a:rPr sz="1600" b="1" spc="-10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sz="1600" b="1" spc="-10" dirty="0">
                <a:solidFill>
                  <a:srgbClr val="080808"/>
                </a:solidFill>
                <a:latin typeface="Calisto MT" panose="02040603050505030304" pitchFamily="18" charset="0"/>
                <a:cs typeface="Arial MT"/>
              </a:rPr>
              <a:t>integrity</a:t>
            </a:r>
            <a:endParaRPr sz="1600"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4310" y="5557097"/>
            <a:ext cx="2704779" cy="154465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Calisto MT" panose="02040603050505030304" pitchFamily="18" charset="0"/>
              </a:rPr>
              <a:t>Maintains an awareness of challenges to proactively deliver resilient and scalable solutions.</a:t>
            </a:r>
          </a:p>
          <a:p>
            <a:br>
              <a:rPr lang="en-US" dirty="0"/>
            </a:b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32700" y="5471367"/>
            <a:ext cx="2459140" cy="926792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540">
              <a:lnSpc>
                <a:spcPts val="1410"/>
              </a:lnSpc>
              <a:spcBef>
                <a:spcPts val="200"/>
              </a:spcBef>
            </a:pPr>
            <a:r>
              <a:rPr lang="en-US" sz="1600" b="1" dirty="0">
                <a:latin typeface="Calisto MT" panose="02040603050505030304" pitchFamily="18" charset="0"/>
              </a:rPr>
              <a:t>Adopt architectural patterns to enhance maintainability and scalability across platform features</a:t>
            </a:r>
            <a:r>
              <a:rPr lang="en-US" sz="1600" dirty="0"/>
              <a:t>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89A54E-6C56-9A31-CA0B-14D8A2B3A2C0}"/>
              </a:ext>
            </a:extLst>
          </p:cNvPr>
          <p:cNvSpPr txBox="1"/>
          <p:nvPr/>
        </p:nvSpPr>
        <p:spPr>
          <a:xfrm>
            <a:off x="2783444" y="2932035"/>
            <a:ext cx="27721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Ensure real-time data synchronization for accurate campaign updates and contributor communications</a:t>
            </a:r>
            <a:endParaRPr lang="en-IN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1ACA4A-8D61-983A-AF6C-66B6AB10528A}"/>
              </a:ext>
            </a:extLst>
          </p:cNvPr>
          <p:cNvSpPr txBox="1"/>
          <p:nvPr/>
        </p:nvSpPr>
        <p:spPr>
          <a:xfrm>
            <a:off x="875387" y="1092551"/>
            <a:ext cx="937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Strategies to Build Resilient, Scalable Solutions</a:t>
            </a:r>
            <a:endParaRPr lang="en-IN" sz="3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50" y="4709870"/>
            <a:ext cx="654159" cy="5416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7831" y="4762421"/>
            <a:ext cx="653520" cy="6160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7850" y="2052448"/>
            <a:ext cx="603078" cy="5674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90322" y="1596210"/>
            <a:ext cx="603078" cy="43205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 flipH="1">
            <a:off x="5795787" y="4783695"/>
            <a:ext cx="392709" cy="622001"/>
          </a:xfrm>
          <a:custGeom>
            <a:avLst/>
            <a:gdLst/>
            <a:ahLst/>
            <a:cxnLst/>
            <a:rect l="l" t="t" r="r" b="b"/>
            <a:pathLst>
              <a:path h="468629">
                <a:moveTo>
                  <a:pt x="0" y="468061"/>
                </a:moveTo>
                <a:lnTo>
                  <a:pt x="0" y="0"/>
                </a:lnTo>
              </a:path>
            </a:pathLst>
          </a:custGeom>
          <a:ln w="9001">
            <a:solidFill>
              <a:srgbClr val="384F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184900" y="4756445"/>
            <a:ext cx="653520" cy="622005"/>
            <a:chOff x="5514722" y="4487840"/>
            <a:chExt cx="468630" cy="468630"/>
          </a:xfrm>
        </p:grpSpPr>
        <p:sp>
          <p:nvSpPr>
            <p:cNvPr id="8" name="object 8"/>
            <p:cNvSpPr/>
            <p:nvPr/>
          </p:nvSpPr>
          <p:spPr>
            <a:xfrm>
              <a:off x="5978283" y="4487840"/>
              <a:ext cx="0" cy="468630"/>
            </a:xfrm>
            <a:custGeom>
              <a:avLst/>
              <a:gdLst/>
              <a:ahLst/>
              <a:cxnLst/>
              <a:rect l="l" t="t" r="r" b="b"/>
              <a:pathLst>
                <a:path h="468629">
                  <a:moveTo>
                    <a:pt x="0" y="468061"/>
                  </a:moveTo>
                  <a:lnTo>
                    <a:pt x="0" y="0"/>
                  </a:lnTo>
                </a:path>
              </a:pathLst>
            </a:custGeom>
            <a:ln w="9001">
              <a:solidFill>
                <a:srgbClr val="384F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14722" y="4492341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061" y="0"/>
                  </a:lnTo>
                </a:path>
              </a:pathLst>
            </a:custGeom>
            <a:ln w="9001">
              <a:solidFill>
                <a:srgbClr val="384F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14722" y="4951401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061" y="0"/>
                  </a:lnTo>
                </a:path>
              </a:pathLst>
            </a:custGeom>
            <a:ln w="9001">
              <a:solidFill>
                <a:srgbClr val="384F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5591" y="2074420"/>
            <a:ext cx="486409" cy="486409"/>
            <a:chOff x="423055" y="3395696"/>
            <a:chExt cx="486409" cy="48640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055" y="3395696"/>
              <a:ext cx="486063" cy="4860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055" y="3395696"/>
              <a:ext cx="486063" cy="48606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902668" y="4676764"/>
            <a:ext cx="654158" cy="549273"/>
            <a:chOff x="2979389" y="4457837"/>
            <a:chExt cx="477520" cy="486409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79389" y="4457837"/>
              <a:ext cx="477062" cy="4860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79389" y="4457837"/>
              <a:ext cx="477062" cy="48606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344144" y="2029254"/>
            <a:ext cx="633686" cy="612629"/>
            <a:chOff x="5526723" y="3296683"/>
            <a:chExt cx="486409" cy="486409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6723" y="3296683"/>
              <a:ext cx="486063" cy="4860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26723" y="3296683"/>
              <a:ext cx="486063" cy="486064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105149" y="1942513"/>
            <a:ext cx="633235" cy="677399"/>
            <a:chOff x="8074056" y="3395696"/>
            <a:chExt cx="486409" cy="486409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4056" y="3395696"/>
              <a:ext cx="486063" cy="4860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74056" y="3395696"/>
              <a:ext cx="486063" cy="486064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8374" y="624442"/>
            <a:ext cx="1049665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1C5BCC"/>
                </a:solidFill>
                <a:latin typeface="Book Antiqua" panose="02040602050305030304" pitchFamily="18" charset="0"/>
              </a:rPr>
              <a:t>Key</a:t>
            </a:r>
            <a:r>
              <a:rPr sz="3600" spc="-180" dirty="0">
                <a:solidFill>
                  <a:srgbClr val="1C5BCC"/>
                </a:solidFill>
                <a:latin typeface="Book Antiqua" panose="02040602050305030304" pitchFamily="18" charset="0"/>
              </a:rPr>
              <a:t> </a:t>
            </a:r>
            <a:r>
              <a:rPr sz="3600" dirty="0">
                <a:solidFill>
                  <a:srgbClr val="3B60D1"/>
                </a:solidFill>
                <a:latin typeface="Book Antiqua" panose="02040602050305030304" pitchFamily="18" charset="0"/>
              </a:rPr>
              <a:t>Developer</a:t>
            </a:r>
            <a:r>
              <a:rPr sz="3600" spc="130" dirty="0">
                <a:solidFill>
                  <a:srgbClr val="3B60D1"/>
                </a:solidFill>
                <a:latin typeface="Book Antiqua" panose="02040602050305030304" pitchFamily="18" charset="0"/>
              </a:rPr>
              <a:t> </a:t>
            </a:r>
            <a:r>
              <a:rPr sz="3600" dirty="0">
                <a:latin typeface="Book Antiqua" panose="02040602050305030304" pitchFamily="18" charset="0"/>
              </a:rPr>
              <a:t>Priorities</a:t>
            </a:r>
            <a:r>
              <a:rPr sz="3600" spc="55" dirty="0">
                <a:latin typeface="Book Antiqua" panose="02040602050305030304" pitchFamily="18" charset="0"/>
              </a:rPr>
              <a:t> </a:t>
            </a:r>
            <a:r>
              <a:rPr sz="3600" dirty="0">
                <a:solidFill>
                  <a:srgbClr val="1F46C6"/>
                </a:solidFill>
                <a:latin typeface="Book Antiqua" panose="02040602050305030304" pitchFamily="18" charset="0"/>
              </a:rPr>
              <a:t>to</a:t>
            </a:r>
            <a:r>
              <a:rPr sz="3600" spc="65" dirty="0">
                <a:solidFill>
                  <a:srgbClr val="1F46C6"/>
                </a:solidFill>
                <a:latin typeface="Book Antiqua" panose="02040602050305030304" pitchFamily="18" charset="0"/>
              </a:rPr>
              <a:t> </a:t>
            </a:r>
            <a:r>
              <a:rPr sz="3600" dirty="0">
                <a:solidFill>
                  <a:srgbClr val="2B4FE6"/>
                </a:solidFill>
                <a:latin typeface="Book Antiqua" panose="02040602050305030304" pitchFamily="18" charset="0"/>
              </a:rPr>
              <a:t>Drive</a:t>
            </a:r>
            <a:r>
              <a:rPr sz="3600" spc="-135" dirty="0">
                <a:solidFill>
                  <a:srgbClr val="2B4FE6"/>
                </a:solidFill>
                <a:latin typeface="Book Antiqua" panose="02040602050305030304" pitchFamily="18" charset="0"/>
              </a:rPr>
              <a:t> </a:t>
            </a:r>
            <a:r>
              <a:rPr sz="3600" dirty="0">
                <a:solidFill>
                  <a:srgbClr val="2348BC"/>
                </a:solidFill>
                <a:latin typeface="Book Antiqua" panose="02040602050305030304" pitchFamily="18" charset="0"/>
              </a:rPr>
              <a:t>Pl</a:t>
            </a:r>
            <a:r>
              <a:rPr lang="en-US" sz="3600" dirty="0">
                <a:solidFill>
                  <a:srgbClr val="2348BC"/>
                </a:solidFill>
                <a:latin typeface="Book Antiqua" panose="02040602050305030304" pitchFamily="18" charset="0"/>
              </a:rPr>
              <a:t>atf</a:t>
            </a:r>
            <a:r>
              <a:rPr sz="3600" dirty="0">
                <a:solidFill>
                  <a:srgbClr val="2348BC"/>
                </a:solidFill>
                <a:latin typeface="Book Antiqua" panose="02040602050305030304" pitchFamily="18" charset="0"/>
              </a:rPr>
              <a:t>orm</a:t>
            </a:r>
            <a:r>
              <a:rPr sz="3600" spc="-65" dirty="0">
                <a:solidFill>
                  <a:srgbClr val="2348BC"/>
                </a:solidFill>
                <a:latin typeface="Book Antiqua" panose="02040602050305030304" pitchFamily="18" charset="0"/>
              </a:rPr>
              <a:t> </a:t>
            </a:r>
            <a:r>
              <a:rPr sz="3600" spc="-10" dirty="0">
                <a:solidFill>
                  <a:srgbClr val="2B52CF"/>
                </a:solidFill>
                <a:latin typeface="Book Antiqua" panose="02040602050305030304" pitchFamily="18" charset="0"/>
              </a:rPr>
              <a:t>Success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0695" y="2687049"/>
            <a:ext cx="2619916" cy="12380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12500"/>
              </a:lnSpc>
              <a:spcBef>
                <a:spcPts val="90"/>
              </a:spcBef>
            </a:pPr>
            <a:r>
              <a:rPr lang="en-US" b="1" dirty="0">
                <a:latin typeface="Calisto MT" panose="02040603050505030304" pitchFamily="18" charset="0"/>
              </a:rPr>
              <a:t>User roles demand distinct access roles:- Admin, Campaign Creator, Contributor</a:t>
            </a:r>
            <a:r>
              <a:rPr lang="en-US" dirty="0"/>
              <a:t>.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629" y="5530850"/>
            <a:ext cx="2568067" cy="894027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635">
              <a:lnSpc>
                <a:spcPct val="109700"/>
              </a:lnSpc>
              <a:spcBef>
                <a:spcPts val="10"/>
              </a:spcBef>
            </a:pPr>
            <a:r>
              <a:rPr b="1" spc="-45" dirty="0">
                <a:latin typeface="Calisto MT" panose="02040603050505030304" pitchFamily="18" charset="0"/>
                <a:cs typeface="Arial MT"/>
              </a:rPr>
              <a:t>Prioritize</a:t>
            </a:r>
            <a:r>
              <a:rPr b="1" spc="-2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35" dirty="0">
                <a:latin typeface="Calisto MT" panose="02040603050505030304" pitchFamily="18" charset="0"/>
                <a:cs typeface="Arial MT"/>
              </a:rPr>
              <a:t>usability</a:t>
            </a:r>
            <a:r>
              <a:rPr b="1" spc="1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60" dirty="0">
                <a:latin typeface="Calisto MT" panose="02040603050505030304" pitchFamily="18" charset="0"/>
                <a:cs typeface="Arial MT"/>
              </a:rPr>
              <a:t>and</a:t>
            </a:r>
            <a:r>
              <a:rPr b="1" spc="-11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50" dirty="0">
                <a:latin typeface="Calisto MT" panose="02040603050505030304" pitchFamily="18" charset="0"/>
                <a:cs typeface="Arial MT"/>
              </a:rPr>
              <a:t>real- </a:t>
            </a:r>
            <a:r>
              <a:rPr b="1" spc="-25" dirty="0">
                <a:solidFill>
                  <a:srgbClr val="2B2B2B"/>
                </a:solidFill>
                <a:latin typeface="Calisto MT" panose="02040603050505030304" pitchFamily="18" charset="0"/>
                <a:cs typeface="Arial MT"/>
              </a:rPr>
              <a:t>time</a:t>
            </a:r>
            <a:r>
              <a:rPr b="1" spc="-90" dirty="0">
                <a:solidFill>
                  <a:srgbClr val="2B2B2B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60" dirty="0">
                <a:solidFill>
                  <a:srgbClr val="0C0C0C"/>
                </a:solidFill>
                <a:latin typeface="Calisto MT" panose="02040603050505030304" pitchFamily="18" charset="0"/>
                <a:cs typeface="Arial MT"/>
              </a:rPr>
              <a:t>feedback</a:t>
            </a:r>
            <a:r>
              <a:rPr b="1" spc="5" dirty="0">
                <a:solidFill>
                  <a:srgbClr val="0C0C0C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to</a:t>
            </a:r>
            <a:r>
              <a:rPr b="1" spc="-60" dirty="0">
                <a:solidFill>
                  <a:srgbClr val="131313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rgbClr val="0A0A0A"/>
                </a:solidFill>
                <a:latin typeface="Calisto MT" panose="02040603050505030304" pitchFamily="18" charset="0"/>
                <a:cs typeface="Arial MT"/>
              </a:rPr>
              <a:t>enhance </a:t>
            </a:r>
            <a:r>
              <a:rPr b="1" spc="-65" dirty="0">
                <a:solidFill>
                  <a:srgbClr val="1A1A1A"/>
                </a:solidFill>
                <a:latin typeface="Calisto MT" panose="02040603050505030304" pitchFamily="18" charset="0"/>
                <a:cs typeface="Arial MT"/>
              </a:rPr>
              <a:t>user</a:t>
            </a:r>
            <a:r>
              <a:rPr b="1" dirty="0">
                <a:solidFill>
                  <a:srgbClr val="1A1A1A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rgbClr val="0C0C0C"/>
                </a:solidFill>
                <a:latin typeface="Calisto MT" panose="02040603050505030304" pitchFamily="18" charset="0"/>
                <a:cs typeface="Arial MT"/>
              </a:rPr>
              <a:t>satisfamion</a:t>
            </a:r>
            <a:endParaRPr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41844" y="2696405"/>
            <a:ext cx="2348044" cy="12922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75">
              <a:lnSpc>
                <a:spcPct val="118100"/>
              </a:lnSpc>
              <a:spcBef>
                <a:spcPts val="90"/>
              </a:spcBef>
            </a:pPr>
            <a:r>
              <a:rPr lang="en-US" b="1" dirty="0">
                <a:solidFill>
                  <a:schemeClr val="tx1"/>
                </a:solidFill>
                <a:latin typeface="Calisto MT" panose="02040603050505030304" pitchFamily="18" charset="0"/>
              </a:rPr>
              <a:t>Design tailored dashboards that meet each role's specific needs.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7596" y="5526976"/>
            <a:ext cx="3056131" cy="88646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8415" marR="5080" indent="-5715">
              <a:lnSpc>
                <a:spcPct val="109200"/>
              </a:lnSpc>
              <a:spcBef>
                <a:spcPts val="10"/>
              </a:spcBef>
            </a:pPr>
            <a:r>
              <a:rPr b="1" spc="-70" dirty="0">
                <a:latin typeface="Calisto MT" panose="02040603050505030304" pitchFamily="18" charset="0"/>
                <a:cs typeface="Arial MT"/>
              </a:rPr>
              <a:t>Proactively</a:t>
            </a:r>
            <a:r>
              <a:rPr b="1" spc="-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rgbClr val="0F0F0F"/>
                </a:solidFill>
                <a:latin typeface="Calisto MT" panose="02040603050505030304" pitchFamily="18" charset="0"/>
                <a:cs typeface="Arial MT"/>
              </a:rPr>
              <a:t>address </a:t>
            </a:r>
            <a:r>
              <a:rPr b="1" spc="-60" dirty="0">
                <a:solidFill>
                  <a:srgbClr val="1F1F1F"/>
                </a:solidFill>
                <a:latin typeface="Calisto MT" panose="02040603050505030304" pitchFamily="18" charset="0"/>
                <a:cs typeface="Arial MT"/>
              </a:rPr>
              <a:t>common</a:t>
            </a:r>
            <a:r>
              <a:rPr b="1" spc="-105" dirty="0">
                <a:solidFill>
                  <a:srgbClr val="1F1F1F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5" dirty="0">
                <a:latin typeface="Calisto MT" panose="02040603050505030304" pitchFamily="18" charset="0"/>
                <a:cs typeface="Arial MT"/>
              </a:rPr>
              <a:t>challenges</a:t>
            </a:r>
            <a:r>
              <a:rPr b="1" spc="70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rgbClr val="181818"/>
                </a:solidFill>
                <a:latin typeface="Calisto MT" panose="02040603050505030304" pitchFamily="18" charset="0"/>
                <a:cs typeface="Arial MT"/>
              </a:rPr>
              <a:t>for </a:t>
            </a:r>
            <a:r>
              <a:rPr b="1" spc="-65" dirty="0">
                <a:solidFill>
                  <a:srgbClr val="0A0A0A"/>
                </a:solidFill>
                <a:latin typeface="Calisto MT" panose="02040603050505030304" pitchFamily="18" charset="0"/>
                <a:cs typeface="Arial MT"/>
              </a:rPr>
              <a:t>scalable,</a:t>
            </a:r>
            <a:r>
              <a:rPr b="1" spc="-20" dirty="0">
                <a:solidFill>
                  <a:srgbClr val="0A0A0A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65" dirty="0">
                <a:latin typeface="Calisto MT" panose="02040603050505030304" pitchFamily="18" charset="0"/>
                <a:cs typeface="Arial MT"/>
              </a:rPr>
              <a:t>reliable</a:t>
            </a:r>
            <a:r>
              <a:rPr b="1" spc="35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latin typeface="Calisto MT" panose="02040603050505030304" pitchFamily="18" charset="0"/>
                <a:cs typeface="Arial MT"/>
              </a:rPr>
              <a:t>platform</a:t>
            </a:r>
            <a:r>
              <a:rPr lang="en-US" b="1" dirty="0"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rgbClr val="161616"/>
                </a:solidFill>
                <a:latin typeface="Calisto MT" panose="02040603050505030304" pitchFamily="18" charset="0"/>
                <a:cs typeface="Arial MT"/>
              </a:rPr>
              <a:t>delivery</a:t>
            </a:r>
            <a:endParaRPr b="1" dirty="0"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04790" y="2729960"/>
            <a:ext cx="2800359" cy="124027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" marR="5080" indent="-3810">
              <a:lnSpc>
                <a:spcPct val="112500"/>
              </a:lnSpc>
              <a:spcBef>
                <a:spcPts val="90"/>
              </a:spcBef>
            </a:pPr>
            <a:r>
              <a:rPr b="1" spc="-4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Implement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robust </a:t>
            </a:r>
            <a:r>
              <a:rPr b="1" spc="-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input/output</a:t>
            </a:r>
            <a:r>
              <a:rPr b="1" spc="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workflows</a:t>
            </a:r>
            <a:r>
              <a:rPr b="1" spc="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to </a:t>
            </a:r>
            <a:r>
              <a:rPr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ensure</a:t>
            </a:r>
            <a:r>
              <a:rPr b="1" spc="2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smooth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user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imeractton8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94021" y="5527676"/>
            <a:ext cx="3529478" cy="894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" marR="5080" indent="-5715">
              <a:lnSpc>
                <a:spcPct val="110600"/>
              </a:lnSpc>
            </a:pP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Deliver</a:t>
            </a:r>
            <a:r>
              <a:rPr b="1" spc="3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solutions</a:t>
            </a:r>
            <a:r>
              <a:rPr b="1" spc="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that </a:t>
            </a:r>
            <a:r>
              <a:rPr b="1" spc="-6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empower</a:t>
            </a:r>
            <a:r>
              <a:rPr b="1" spc="-1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campaign </a:t>
            </a:r>
            <a:r>
              <a:rPr b="1" spc="-5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success</a:t>
            </a:r>
            <a:r>
              <a:rPr b="1" spc="-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6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and</a:t>
            </a:r>
            <a:r>
              <a:rPr b="1" spc="-10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foster </a:t>
            </a:r>
            <a:r>
              <a:rPr b="1" spc="-4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community</a:t>
            </a:r>
            <a:r>
              <a:rPr b="1" spc="-20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 </a:t>
            </a:r>
            <a:r>
              <a:rPr b="1" spc="-75" dirty="0">
                <a:solidFill>
                  <a:schemeClr val="tx1"/>
                </a:solidFill>
                <a:latin typeface="Calisto MT" panose="02040603050505030304" pitchFamily="18" charset="0"/>
                <a:cs typeface="Arial MT"/>
              </a:rPr>
              <a:t>engagement</a:t>
            </a:r>
            <a:endParaRPr b="1" dirty="0">
              <a:solidFill>
                <a:schemeClr val="tx1"/>
              </a:solidFill>
              <a:latin typeface="Calisto MT" panose="02040603050505030304" pitchFamily="18" charset="0"/>
              <a:cs typeface="Arial M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09DD1-FB56-F8CE-3BAB-0B4883BFA712}"/>
              </a:ext>
            </a:extLst>
          </p:cNvPr>
          <p:cNvSpPr txBox="1"/>
          <p:nvPr/>
        </p:nvSpPr>
        <p:spPr>
          <a:xfrm>
            <a:off x="8031367" y="2667505"/>
            <a:ext cx="2474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Maintain strict data integrity and security to protect user information.</a:t>
            </a:r>
            <a:endParaRPr lang="en-IN" b="1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</TotalTime>
  <Words>1098</Words>
  <Application>Microsoft Office PowerPoint</Application>
  <PresentationFormat>Custom</PresentationFormat>
  <Paragraphs>113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Book Antiqua</vt:lpstr>
      <vt:lpstr>Calibri</vt:lpstr>
      <vt:lpstr>Calisto MT</vt:lpstr>
      <vt:lpstr>Office Theme</vt:lpstr>
      <vt:lpstr>.</vt:lpstr>
      <vt:lpstr>Defining Key User Roles for Ploflorm Success</vt:lpstr>
      <vt:lpstr>Admin Role :  Commanding  Platform   Management</vt:lpstr>
      <vt:lpstr>PowerPoint Presentation</vt:lpstr>
      <vt:lpstr>Empowering Contributors: Secure Support and                                                            Profile Control</vt:lpstr>
      <vt:lpstr>Essential Dashboard Features for Campaings Creators</vt:lpstr>
      <vt:lpstr>Empowering Contributors with lntuitive Dashboards</vt:lpstr>
      <vt:lpstr>Streamlining  User  Actions  Through   Precise   Inputs  and Outputs</vt:lpstr>
      <vt:lpstr>Streamlining Contribution Confirmation</vt:lpstr>
      <vt:lpstr>Streamlining Campaign Updates and Progress Tracking</vt:lpstr>
      <vt:lpstr>PowerPoint Presentation</vt:lpstr>
      <vt:lpstr>PowerPoint Presentation</vt:lpstr>
      <vt:lpstr>Ensuring Data Integrity and System Reliability</vt:lpstr>
      <vt:lpstr>Overcoming Key Development Challenges</vt:lpstr>
      <vt:lpstr>Key Developer Priorities to Drive Platform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Ronit Raj</dc:creator>
  <cp:lastModifiedBy>Ronit Raj</cp:lastModifiedBy>
  <cp:revision>4</cp:revision>
  <dcterms:created xsi:type="dcterms:W3CDTF">2025-10-23T15:49:31Z</dcterms:created>
  <dcterms:modified xsi:type="dcterms:W3CDTF">2025-11-24T14:38:08Z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LastSaved">
    <vt:filetime>2025-10-23T00:00:00Z</vt:filetime>
  </property>
  <property fmtid="{D5CDD505-2E9C-101B-9397-08002B2CF9AE}" pid="4" name="Producer">
    <vt:lpwstr>iLovePDF</vt:lpwstr>
  </property>
</Properties>
</file>